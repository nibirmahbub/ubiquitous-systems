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4" r:id="rId7"/>
    <p:sldId id="260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13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184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0134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CED06-4435-59CE-4131-480B00208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9B559A-92A3-A035-CA8A-34D4E67256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2791BC-F907-8355-056F-9776D2545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148F95-27C5-5C28-3A2D-C1388DB09B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643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56848" y="641908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818120" y="1097280"/>
            <a:ext cx="3246120" cy="3246120"/>
          </a:xfrm>
          <a:prstGeom prst="ellipse">
            <a:avLst/>
          </a:prstGeom>
          <a:solidFill>
            <a:srgbClr val="F3F7FF"/>
          </a:solidFill>
          <a:ln w="12700">
            <a:solidFill>
              <a:srgbClr val="D7E0F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38160" y="1417320"/>
            <a:ext cx="2606040" cy="2606040"/>
          </a:xfrm>
          <a:prstGeom prst="arc">
            <a:avLst/>
          </a:prstGeom>
          <a:solidFill>
            <a:srgbClr val="F3F7FF">
              <a:alpha val="0"/>
            </a:srgbClr>
          </a:solidFill>
          <a:ln w="38100">
            <a:solidFill>
              <a:srgbClr val="6EA8FE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818120" y="1097280"/>
            <a:ext cx="3246120" cy="3246120"/>
          </a:xfrm>
          <a:prstGeom prst="arc">
            <a:avLst/>
          </a:prstGeom>
          <a:solidFill>
            <a:srgbClr val="F3F7FF">
              <a:alpha val="0"/>
            </a:srgbClr>
          </a:solidFill>
          <a:ln w="25400">
            <a:solidFill>
              <a:srgbClr val="74D99F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326880" y="2560320"/>
            <a:ext cx="292608" cy="292608"/>
          </a:xfrm>
          <a:prstGeom prst="ellipse">
            <a:avLst/>
          </a:prstGeom>
          <a:solidFill>
            <a:srgbClr val="FF8FB3"/>
          </a:solidFill>
          <a:ln w="12700">
            <a:solidFill>
              <a:srgbClr val="FF8FB3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549640" y="2057400"/>
            <a:ext cx="256032" cy="256032"/>
          </a:xfrm>
          <a:prstGeom prst="ellipse">
            <a:avLst/>
          </a:prstGeom>
          <a:solidFill>
            <a:srgbClr val="74D99F"/>
          </a:solidFill>
          <a:ln w="12700">
            <a:solidFill>
              <a:srgbClr val="74D99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9808" y="841248"/>
            <a:ext cx="5897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233044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Autonomous</a:t>
            </a:r>
            <a:endParaRPr lang="en-US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300" b="1" dirty="0">
                <a:solidFill>
                  <a:srgbClr val="233044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Human-Robot</a:t>
            </a:r>
            <a:endParaRPr lang="en-US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300" b="1" dirty="0">
                <a:solidFill>
                  <a:srgbClr val="233044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Interaction</a:t>
            </a:r>
            <a:endParaRPr lang="en-US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86384" y="3154680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Face Tracking &amp; Ultrasonic Spatial Mapping with OhBot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86384" y="3858768"/>
            <a:ext cx="1005840" cy="384048"/>
          </a:xfrm>
          <a:prstGeom prst="roundRect">
            <a:avLst>
              <a:gd name="adj" fmla="val 30952"/>
            </a:avLst>
          </a:prstGeom>
          <a:solidFill>
            <a:srgbClr val="6EA8FE">
              <a:alpha val="28000"/>
            </a:srgbClr>
          </a:solidFill>
          <a:ln w="12700">
            <a:solidFill>
              <a:srgbClr val="6EA8F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59536" y="3950208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901952" y="3858768"/>
            <a:ext cx="1143000" cy="384048"/>
          </a:xfrm>
          <a:prstGeom prst="roundRect">
            <a:avLst>
              <a:gd name="adj" fmla="val 30952"/>
            </a:avLst>
          </a:prstGeom>
          <a:solidFill>
            <a:srgbClr val="74D99F">
              <a:alpha val="28000"/>
            </a:srgbClr>
          </a:solidFill>
          <a:ln w="12700">
            <a:solidFill>
              <a:srgbClr val="74D99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975104" y="3950208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163824" y="3858768"/>
            <a:ext cx="1005840" cy="384048"/>
          </a:xfrm>
          <a:prstGeom prst="roundRect">
            <a:avLst>
              <a:gd name="adj" fmla="val 30952"/>
            </a:avLst>
          </a:prstGeom>
          <a:solidFill>
            <a:srgbClr val="FFD966">
              <a:alpha val="28000"/>
            </a:srgbClr>
          </a:solidFill>
          <a:ln w="12700">
            <a:solidFill>
              <a:srgbClr val="FFD96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36976" y="3950208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YuNet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279392" y="3858768"/>
            <a:ext cx="1005840" cy="384048"/>
          </a:xfrm>
          <a:prstGeom prst="roundRect">
            <a:avLst>
              <a:gd name="adj" fmla="val 30952"/>
            </a:avLst>
          </a:prstGeom>
          <a:solidFill>
            <a:srgbClr val="FFB78A">
              <a:alpha val="28000"/>
            </a:srgbClr>
          </a:solidFill>
          <a:ln w="12700">
            <a:solidFill>
              <a:srgbClr val="FFB78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352544" y="3950208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OhBot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394960" y="3858768"/>
            <a:ext cx="1508760" cy="384048"/>
          </a:xfrm>
          <a:prstGeom prst="roundRect">
            <a:avLst>
              <a:gd name="adj" fmla="val 30952"/>
            </a:avLst>
          </a:prstGeom>
          <a:solidFill>
            <a:srgbClr val="BBA7FF">
              <a:alpha val="28000"/>
            </a:srgbClr>
          </a:solidFill>
          <a:ln w="12700">
            <a:solidFill>
              <a:srgbClr val="BBA7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68112" y="3950208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ATmega32U4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424928" y="4681728"/>
            <a:ext cx="3886200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12700">
            <a:solidFill>
              <a:srgbClr val="D7E0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589520" y="4846320"/>
            <a:ext cx="310896" cy="310896"/>
          </a:xfrm>
          <a:prstGeom prst="ellipse">
            <a:avLst/>
          </a:prstGeom>
          <a:solidFill>
            <a:srgbClr val="6EA8FE">
              <a:alpha val="88000"/>
            </a:srgbClr>
          </a:solidFill>
          <a:ln w="12700">
            <a:solidFill>
              <a:srgbClr val="6EA8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046720" y="4846320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idea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680960" y="5248656"/>
            <a:ext cx="338328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robotic head that sees faces, moves naturally, senses nearby objects, and shows its perception on a radar map.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0792F8-18FA-0447-A681-0A2484D23655}"/>
              </a:ext>
            </a:extLst>
          </p:cNvPr>
          <p:cNvSpPr txBox="1"/>
          <p:nvPr/>
        </p:nvSpPr>
        <p:spPr>
          <a:xfrm>
            <a:off x="550944" y="5216759"/>
            <a:ext cx="3098925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b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Sazzad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Abdullah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Mahbub Ul Islam Khan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955963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3044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Project objective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1747335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the system is built to do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356848" y="641908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2231967"/>
            <a:ext cx="2606040" cy="1115568"/>
          </a:xfrm>
          <a:prstGeom prst="roundRect">
            <a:avLst>
              <a:gd name="adj" fmla="val 14754"/>
            </a:avLst>
          </a:prstGeom>
          <a:solidFill>
            <a:srgbClr val="F3F7FF"/>
          </a:solidFill>
          <a:ln w="12700">
            <a:solidFill>
              <a:srgbClr val="D7E0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50392" y="2396559"/>
            <a:ext cx="310896" cy="310896"/>
          </a:xfrm>
          <a:prstGeom prst="ellipse">
            <a:avLst/>
          </a:prstGeom>
          <a:solidFill>
            <a:srgbClr val="6EA8FE">
              <a:alpha val="88000"/>
            </a:srgbClr>
          </a:solidFill>
          <a:ln w="12700">
            <a:solidFill>
              <a:srgbClr val="6EA8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07592" y="2396559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detection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41832" y="2798895"/>
            <a:ext cx="210312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 faces using a camera and AI-based face detection.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547872" y="2231967"/>
            <a:ext cx="2788920" cy="1115568"/>
          </a:xfrm>
          <a:prstGeom prst="roundRect">
            <a:avLst>
              <a:gd name="adj" fmla="val 14754"/>
            </a:avLst>
          </a:prstGeom>
          <a:solidFill>
            <a:srgbClr val="F1FFF8"/>
          </a:solidFill>
          <a:ln w="12700">
            <a:solidFill>
              <a:srgbClr val="D7E0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712464" y="2396559"/>
            <a:ext cx="310896" cy="310896"/>
          </a:xfrm>
          <a:prstGeom prst="ellipse">
            <a:avLst/>
          </a:prstGeom>
          <a:solidFill>
            <a:srgbClr val="74D99F">
              <a:alpha val="88000"/>
            </a:srgbClr>
          </a:solidFill>
          <a:ln w="12700">
            <a:solidFill>
              <a:srgbClr val="74D9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69664" y="2396559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Natural motion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803904" y="2798895"/>
            <a:ext cx="22860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Eyes handle small movements. The head moves when the face moves far from center.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583680" y="2231967"/>
            <a:ext cx="2788920" cy="1115568"/>
          </a:xfrm>
          <a:prstGeom prst="roundRect">
            <a:avLst>
              <a:gd name="adj" fmla="val 14754"/>
            </a:avLst>
          </a:prstGeom>
          <a:solidFill>
            <a:srgbClr val="FFF7E8"/>
          </a:solidFill>
          <a:ln w="12700">
            <a:solidFill>
              <a:srgbClr val="D7E0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748272" y="2396559"/>
            <a:ext cx="310896" cy="310896"/>
          </a:xfrm>
          <a:prstGeom prst="ellipse">
            <a:avLst/>
          </a:prstGeom>
          <a:solidFill>
            <a:srgbClr val="FFD966">
              <a:alpha val="88000"/>
            </a:srgbClr>
          </a:solidFill>
          <a:ln w="12700">
            <a:solidFill>
              <a:srgbClr val="FFD9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205472" y="2396559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awareness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839712" y="2798895"/>
            <a:ext cx="22860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Dual ultrasonic sensors detect nearby objects on the left and right side.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619488" y="2231967"/>
            <a:ext cx="2278470" cy="1115568"/>
          </a:xfrm>
          <a:prstGeom prst="roundRect">
            <a:avLst>
              <a:gd name="adj" fmla="val 14754"/>
            </a:avLst>
          </a:prstGeom>
          <a:solidFill>
            <a:srgbClr val="FFF0F4"/>
          </a:solidFill>
          <a:ln w="12700">
            <a:solidFill>
              <a:srgbClr val="D7E0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784080" y="2396559"/>
            <a:ext cx="310896" cy="310896"/>
          </a:xfrm>
          <a:prstGeom prst="ellipse">
            <a:avLst/>
          </a:prstGeom>
          <a:solidFill>
            <a:srgbClr val="FF8FB3">
              <a:alpha val="88000"/>
            </a:srgbClr>
          </a:solidFill>
          <a:ln w="12700">
            <a:solidFill>
              <a:srgbClr val="FF8FB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241280" y="2396559"/>
            <a:ext cx="165667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Recovery behavior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784080" y="2798895"/>
            <a:ext cx="2113877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the face is lost, the robot searches using ultrasonic direction cues.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13232" y="4340907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operating values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13232" y="5008419"/>
            <a:ext cx="201168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240">
            <a:solidFill>
              <a:srgbClr val="6EA8F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04672" y="5136435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640 × 480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04672" y="5493051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Camera resolution</a:t>
            </a:r>
            <a:endParaRPr lang="en-US" sz="9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953512" y="5008419"/>
            <a:ext cx="178308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240">
            <a:solidFill>
              <a:srgbClr val="74D99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044952" y="5136435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 FPS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044952" y="5493051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Camera frame rate</a:t>
            </a:r>
            <a:endParaRPr lang="en-US" sz="9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965192" y="5008419"/>
            <a:ext cx="201168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240">
            <a:solidFill>
              <a:srgbClr val="FFD96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056632" y="5136435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250 </a:t>
            </a:r>
            <a:r>
              <a:rPr lang="en-US" sz="180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056632" y="5493051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Ultrasonic threshold</a:t>
            </a:r>
            <a:endParaRPr lang="en-US" sz="9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205472" y="5008419"/>
            <a:ext cx="178308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240">
            <a:solidFill>
              <a:srgbClr val="FF8FB3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296912" y="5136435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2.5 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296912" y="5493051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Face lost timeout</a:t>
            </a:r>
            <a:endParaRPr lang="en-US" sz="9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217152" y="5008419"/>
            <a:ext cx="192024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240">
            <a:solidFill>
              <a:srgbClr val="BBA7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308592" y="5136435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 frames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308592" y="5493051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 buffer</a:t>
            </a:r>
            <a:endParaRPr lang="en-US" sz="9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3044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System architecture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Camera and sonar are processed together in Python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356848" y="641908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856232" y="1828800"/>
            <a:ext cx="1042416" cy="0"/>
          </a:xfrm>
          <a:prstGeom prst="line">
            <a:avLst/>
          </a:prstGeom>
          <a:noFill/>
          <a:ln w="21590">
            <a:solidFill>
              <a:srgbClr val="6EA8FE">
                <a:alpha val="9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35424" y="1828800"/>
            <a:ext cx="1060704" cy="0"/>
          </a:xfrm>
          <a:prstGeom prst="line">
            <a:avLst/>
          </a:prstGeom>
          <a:noFill/>
          <a:ln w="21590">
            <a:solidFill>
              <a:srgbClr val="6EA8FE">
                <a:alpha val="9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278624" y="1828800"/>
            <a:ext cx="1042416" cy="0"/>
          </a:xfrm>
          <a:prstGeom prst="line">
            <a:avLst/>
          </a:prstGeom>
          <a:noFill/>
          <a:ln w="21590">
            <a:solidFill>
              <a:srgbClr val="6EA8FE">
                <a:alpha val="9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747504" y="1828800"/>
            <a:ext cx="822960" cy="0"/>
          </a:xfrm>
          <a:prstGeom prst="line">
            <a:avLst/>
          </a:prstGeom>
          <a:noFill/>
          <a:ln w="21590">
            <a:solidFill>
              <a:srgbClr val="6EA8FE">
                <a:alpha val="9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947672" y="4297680"/>
            <a:ext cx="960120" cy="0"/>
          </a:xfrm>
          <a:prstGeom prst="line">
            <a:avLst/>
          </a:prstGeom>
          <a:noFill/>
          <a:ln w="21590">
            <a:solidFill>
              <a:srgbClr val="74D99F">
                <a:alpha val="9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90288" y="4297680"/>
            <a:ext cx="1024128" cy="0"/>
          </a:xfrm>
          <a:prstGeom prst="line">
            <a:avLst/>
          </a:prstGeom>
          <a:noFill/>
          <a:ln w="21590">
            <a:solidFill>
              <a:srgbClr val="74D99F">
                <a:alpha val="9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 flipV="1">
            <a:off x="7260335" y="2240280"/>
            <a:ext cx="1682496" cy="2057400"/>
          </a:xfrm>
          <a:prstGeom prst="line">
            <a:avLst/>
          </a:prstGeom>
          <a:noFill/>
          <a:ln w="21590">
            <a:solidFill>
              <a:srgbClr val="74D99F">
                <a:alpha val="9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1417320"/>
            <a:ext cx="1216152" cy="822960"/>
          </a:xfrm>
          <a:prstGeom prst="roundRect">
            <a:avLst>
              <a:gd name="adj" fmla="val 16667"/>
            </a:avLst>
          </a:prstGeom>
          <a:solidFill>
            <a:srgbClr val="F3F7FF"/>
          </a:solidFill>
          <a:ln w="15240">
            <a:solidFill>
              <a:srgbClr val="6EA8FE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1536192"/>
            <a:ext cx="1033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USB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Camera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898648" y="1417320"/>
            <a:ext cx="1636776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6EA8FE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990088" y="1536192"/>
            <a:ext cx="1453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 Input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596128" y="1417320"/>
            <a:ext cx="1682496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6EA8FE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687568" y="1536192"/>
            <a:ext cx="14996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YuNet / Haar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Face Detection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321040" y="1417320"/>
            <a:ext cx="1426464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6EA8FE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412480" y="1536192"/>
            <a:ext cx="1243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Tracking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570464" y="1417320"/>
            <a:ext cx="1143000" cy="822960"/>
          </a:xfrm>
          <a:prstGeom prst="roundRect">
            <a:avLst>
              <a:gd name="adj" fmla="val 16667"/>
            </a:avLst>
          </a:prstGeom>
          <a:solidFill>
            <a:srgbClr val="F3F7FF"/>
          </a:solidFill>
          <a:ln w="15240">
            <a:solidFill>
              <a:srgbClr val="6EA8FE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661904" y="1536192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OhBot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Servos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0080" y="3886200"/>
            <a:ext cx="1307592" cy="822960"/>
          </a:xfrm>
          <a:prstGeom prst="roundRect">
            <a:avLst>
              <a:gd name="adj" fmla="val 16667"/>
            </a:avLst>
          </a:prstGeom>
          <a:solidFill>
            <a:srgbClr val="F1FFF8"/>
          </a:solidFill>
          <a:ln w="15240">
            <a:solidFill>
              <a:srgbClr val="74D99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31520" y="4005072"/>
            <a:ext cx="1124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 + Right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HC-SR04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907792" y="3886200"/>
            <a:ext cx="1682496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74D99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999232" y="4005072"/>
            <a:ext cx="14996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ATmega32U4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614416" y="3886200"/>
            <a:ext cx="164592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74D99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705856" y="400507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 JSON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115200 baud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023360" y="5422392"/>
            <a:ext cx="4160520" cy="566928"/>
          </a:xfrm>
          <a:prstGeom prst="roundRect">
            <a:avLst>
              <a:gd name="adj" fmla="val 29032"/>
            </a:avLst>
          </a:prstGeom>
          <a:solidFill>
            <a:srgbClr val="F3F7FF"/>
          </a:solidFill>
          <a:ln w="12700">
            <a:solidFill>
              <a:srgbClr val="D7E0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261104" y="5605272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live camera HUD + radar map + servo motion</a:t>
            </a:r>
            <a:endParaRPr lang="en-US" sz="12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3044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Face detection and tracking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the robot decides where to look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356848" y="641908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664208" y="1883664"/>
            <a:ext cx="1051560" cy="0"/>
          </a:xfrm>
          <a:prstGeom prst="line">
            <a:avLst/>
          </a:prstGeom>
          <a:noFill/>
          <a:ln w="21590">
            <a:solidFill>
              <a:srgbClr val="6EA8FE">
                <a:alpha val="9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87952" y="1883664"/>
            <a:ext cx="1024128" cy="0"/>
          </a:xfrm>
          <a:prstGeom prst="line">
            <a:avLst/>
          </a:prstGeom>
          <a:noFill/>
          <a:ln w="21590">
            <a:solidFill>
              <a:srgbClr val="6EA8FE">
                <a:alpha val="9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702552" y="1883664"/>
            <a:ext cx="1042416" cy="0"/>
          </a:xfrm>
          <a:prstGeom prst="line">
            <a:avLst/>
          </a:prstGeom>
          <a:noFill/>
          <a:ln w="21590">
            <a:solidFill>
              <a:srgbClr val="6EA8FE">
                <a:alpha val="9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235440" y="1883664"/>
            <a:ext cx="932688" cy="0"/>
          </a:xfrm>
          <a:prstGeom prst="line">
            <a:avLst/>
          </a:prstGeom>
          <a:noFill/>
          <a:ln w="21590">
            <a:solidFill>
              <a:srgbClr val="6EA8FE">
                <a:alpha val="9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1792" y="1463040"/>
            <a:ext cx="1042416" cy="804672"/>
          </a:xfrm>
          <a:prstGeom prst="roundRect">
            <a:avLst>
              <a:gd name="adj" fmla="val 17045"/>
            </a:avLst>
          </a:prstGeom>
          <a:solidFill>
            <a:srgbClr val="F3F7FF"/>
          </a:solidFill>
          <a:ln w="15240">
            <a:solidFill>
              <a:srgbClr val="6EA8FE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13232" y="1581912"/>
            <a:ext cx="859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15768" y="1463040"/>
            <a:ext cx="1472184" cy="804672"/>
          </a:xfrm>
          <a:prstGeom prst="roundRect">
            <a:avLst>
              <a:gd name="adj" fmla="val 17045"/>
            </a:avLst>
          </a:prstGeom>
          <a:solidFill>
            <a:srgbClr val="FFFFFF"/>
          </a:solidFill>
          <a:ln w="15240">
            <a:solidFill>
              <a:srgbClr val="6EA8FE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807208" y="1581912"/>
            <a:ext cx="1289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center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Cx, Cy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212080" y="1463040"/>
            <a:ext cx="1490472" cy="804672"/>
          </a:xfrm>
          <a:prstGeom prst="roundRect">
            <a:avLst>
              <a:gd name="adj" fmla="val 17045"/>
            </a:avLst>
          </a:prstGeom>
          <a:solidFill>
            <a:srgbClr val="FFFFFF"/>
          </a:solidFill>
          <a:ln w="15240">
            <a:solidFill>
              <a:srgbClr val="6EA8FE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303520" y="1581912"/>
            <a:ext cx="1307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744968" y="1463040"/>
            <a:ext cx="1490472" cy="804672"/>
          </a:xfrm>
          <a:prstGeom prst="roundRect">
            <a:avLst>
              <a:gd name="adj" fmla="val 17045"/>
            </a:avLst>
          </a:prstGeom>
          <a:solidFill>
            <a:srgbClr val="FFFFFF"/>
          </a:solidFill>
          <a:ln w="15240">
            <a:solidFill>
              <a:srgbClr val="6EA8FE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836408" y="1581912"/>
            <a:ext cx="1307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Smooth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movement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168128" y="1463040"/>
            <a:ext cx="1261872" cy="804672"/>
          </a:xfrm>
          <a:prstGeom prst="roundRect">
            <a:avLst>
              <a:gd name="adj" fmla="val 17045"/>
            </a:avLst>
          </a:prstGeom>
          <a:solidFill>
            <a:srgbClr val="F3F7FF"/>
          </a:solidFill>
          <a:ln w="15240">
            <a:solidFill>
              <a:srgbClr val="6EA8FE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259568" y="1581912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 eyes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/head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58952" y="3154680"/>
            <a:ext cx="2926080" cy="1417320"/>
          </a:xfrm>
          <a:prstGeom prst="roundRect">
            <a:avLst>
              <a:gd name="adj" fmla="val 11613"/>
            </a:avLst>
          </a:prstGeom>
          <a:solidFill>
            <a:srgbClr val="F3F7FF"/>
          </a:solidFill>
          <a:ln w="12700">
            <a:solidFill>
              <a:srgbClr val="D7E0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23544" y="3319272"/>
            <a:ext cx="310896" cy="310896"/>
          </a:xfrm>
          <a:prstGeom prst="ellipse">
            <a:avLst/>
          </a:prstGeom>
          <a:solidFill>
            <a:srgbClr val="6EA8FE">
              <a:alpha val="88000"/>
            </a:srgbClr>
          </a:solidFill>
          <a:ln w="12700">
            <a:solidFill>
              <a:srgbClr val="6EA8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380744" y="3319272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Detector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14984" y="3721608"/>
            <a:ext cx="242316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Primary: YuNet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Fallback: Haar Cascade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Multi-face target: middle face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950208" y="3154680"/>
            <a:ext cx="2926080" cy="1417320"/>
          </a:xfrm>
          <a:prstGeom prst="roundRect">
            <a:avLst>
              <a:gd name="adj" fmla="val 11613"/>
            </a:avLst>
          </a:prstGeom>
          <a:solidFill>
            <a:srgbClr val="F1FFF8"/>
          </a:solidFill>
          <a:ln w="12700">
            <a:solidFill>
              <a:srgbClr val="D7E0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114800" y="3319272"/>
            <a:ext cx="310896" cy="310896"/>
          </a:xfrm>
          <a:prstGeom prst="ellipse">
            <a:avLst/>
          </a:prstGeom>
          <a:solidFill>
            <a:srgbClr val="74D99F">
              <a:alpha val="88000"/>
            </a:srgbClr>
          </a:solidFill>
          <a:ln w="12700">
            <a:solidFill>
              <a:srgbClr val="74D9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0" y="3319272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zones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206240" y="3721608"/>
            <a:ext cx="242316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Eye-zone margin: 20%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Center area: eye only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Outer area: head + eyes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141464" y="3154680"/>
            <a:ext cx="2926080" cy="1417320"/>
          </a:xfrm>
          <a:prstGeom prst="roundRect">
            <a:avLst>
              <a:gd name="adj" fmla="val 11613"/>
            </a:avLst>
          </a:prstGeom>
          <a:solidFill>
            <a:srgbClr val="FFF7E8"/>
          </a:solidFill>
          <a:ln w="12700">
            <a:solidFill>
              <a:srgbClr val="D7E0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306056" y="3319272"/>
            <a:ext cx="310896" cy="310896"/>
          </a:xfrm>
          <a:prstGeom prst="ellipse">
            <a:avLst/>
          </a:prstGeom>
          <a:solidFill>
            <a:srgbClr val="FFB78A">
              <a:alpha val="88000"/>
            </a:srgbClr>
          </a:solidFill>
          <a:ln w="12700">
            <a:solidFill>
              <a:srgbClr val="FFB7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763256" y="3319272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Stability values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397496" y="3721608"/>
            <a:ext cx="242316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 smoothing: 0.08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Eye smoothing: 0.20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Dead zone: 0.07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225296" y="5486400"/>
            <a:ext cx="9710928" cy="502920"/>
          </a:xfrm>
          <a:prstGeom prst="roundRect">
            <a:avLst>
              <a:gd name="adj" fmla="val 32727"/>
            </a:avLst>
          </a:prstGeom>
          <a:solidFill>
            <a:srgbClr val="EEF4FF"/>
          </a:solidFill>
          <a:ln w="12700">
            <a:solidFill>
              <a:srgbClr val="D7E0F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499616" y="56418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choice: eyes react faster, while the head stays smoother and less jerky.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3044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When the face is lost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Vision first, ultrasonic recovery second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356848" y="641908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276856" y="1883664"/>
            <a:ext cx="1088136" cy="0"/>
          </a:xfrm>
          <a:prstGeom prst="line">
            <a:avLst/>
          </a:prstGeom>
          <a:noFill/>
          <a:ln w="21590">
            <a:solidFill>
              <a:srgbClr val="FF8FB3">
                <a:alpha val="9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0" y="1883664"/>
            <a:ext cx="1143000" cy="0"/>
          </a:xfrm>
          <a:prstGeom prst="line">
            <a:avLst/>
          </a:prstGeom>
          <a:noFill/>
          <a:ln w="21590">
            <a:solidFill>
              <a:srgbClr val="FFD966">
                <a:alpha val="9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973568" y="1883664"/>
            <a:ext cx="1170432" cy="0"/>
          </a:xfrm>
          <a:prstGeom prst="line">
            <a:avLst/>
          </a:prstGeom>
          <a:noFill/>
          <a:ln w="21590">
            <a:solidFill>
              <a:srgbClr val="FFD966">
                <a:alpha val="9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77240" y="1444752"/>
            <a:ext cx="1499616" cy="859536"/>
          </a:xfrm>
          <a:prstGeom prst="roundRect">
            <a:avLst>
              <a:gd name="adj" fmla="val 15957"/>
            </a:avLst>
          </a:prstGeom>
          <a:solidFill>
            <a:srgbClr val="FFF0F4"/>
          </a:solidFill>
          <a:ln w="15240">
            <a:solidFill>
              <a:srgbClr val="FF8FB3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1563624"/>
            <a:ext cx="13167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face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detected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364992" y="1444752"/>
            <a:ext cx="1664208" cy="859536"/>
          </a:xfrm>
          <a:prstGeom prst="roundRect">
            <a:avLst>
              <a:gd name="adj" fmla="val 15957"/>
            </a:avLst>
          </a:prstGeom>
          <a:solidFill>
            <a:srgbClr val="FFF7E8"/>
          </a:solidFill>
          <a:ln w="15240">
            <a:solidFill>
              <a:srgbClr val="FFD966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456432" y="1563624"/>
            <a:ext cx="14813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Wait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2.5 seconds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172200" y="1444752"/>
            <a:ext cx="1801368" cy="859536"/>
          </a:xfrm>
          <a:prstGeom prst="roundRect">
            <a:avLst>
              <a:gd name="adj" fmla="val 15957"/>
            </a:avLst>
          </a:prstGeom>
          <a:solidFill>
            <a:srgbClr val="FFFFFF"/>
          </a:solidFill>
          <a:ln w="15240">
            <a:solidFill>
              <a:srgbClr val="FFD966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63640" y="1563624"/>
            <a:ext cx="1618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 left/right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ultrasonic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144000" y="1444752"/>
            <a:ext cx="1700784" cy="859536"/>
          </a:xfrm>
          <a:prstGeom prst="roundRect">
            <a:avLst>
              <a:gd name="adj" fmla="val 15957"/>
            </a:avLst>
          </a:prstGeom>
          <a:solidFill>
            <a:srgbClr val="F1FFF8"/>
          </a:solidFill>
          <a:ln w="15240">
            <a:solidFill>
              <a:srgbClr val="74D99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235440" y="1563624"/>
            <a:ext cx="15179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Turn toward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closest side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024128" y="3127248"/>
            <a:ext cx="3977640" cy="1389888"/>
          </a:xfrm>
          <a:prstGeom prst="roundRect">
            <a:avLst>
              <a:gd name="adj" fmla="val 11842"/>
            </a:avLst>
          </a:prstGeom>
          <a:solidFill>
            <a:srgbClr val="FFF7E8"/>
          </a:solidFill>
          <a:ln w="12700">
            <a:solidFill>
              <a:srgbClr val="D7E0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188720" y="3291840"/>
            <a:ext cx="310896" cy="310896"/>
          </a:xfrm>
          <a:prstGeom prst="ellipse">
            <a:avLst/>
          </a:prstGeom>
          <a:solidFill>
            <a:srgbClr val="FFD966">
              <a:alpha val="88000"/>
            </a:srgbClr>
          </a:solidFill>
          <a:ln w="12700">
            <a:solidFill>
              <a:srgbClr val="FFD9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645920" y="329184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logic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280160" y="3694176"/>
            <a:ext cx="347472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 distance smaller → turn left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 distance smaller → turn right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object under threshold → return to center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596128" y="3127248"/>
            <a:ext cx="4617720" cy="1389888"/>
          </a:xfrm>
          <a:prstGeom prst="roundRect">
            <a:avLst>
              <a:gd name="adj" fmla="val 11842"/>
            </a:avLst>
          </a:prstGeom>
          <a:solidFill>
            <a:srgbClr val="F1FFF8"/>
          </a:solidFill>
          <a:ln w="12700">
            <a:solidFill>
              <a:srgbClr val="D7E0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760720" y="3291840"/>
            <a:ext cx="310896" cy="310896"/>
          </a:xfrm>
          <a:prstGeom prst="ellipse">
            <a:avLst/>
          </a:prstGeom>
          <a:solidFill>
            <a:srgbClr val="74D99F">
              <a:alpha val="88000"/>
            </a:srgbClr>
          </a:solidFill>
          <a:ln w="12700">
            <a:solidFill>
              <a:srgbClr val="74D9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217920" y="3291840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this matters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852160" y="3694176"/>
            <a:ext cx="411480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robot keeps a basic sense of direction even when the camera temporarily loses the person.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938528" y="5257800"/>
            <a:ext cx="182880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240">
            <a:solidFill>
              <a:srgbClr val="FF8FB3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029968" y="538581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2.5 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029968" y="57424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Lost timeout</a:t>
            </a:r>
            <a:endParaRPr lang="en-US" sz="9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315968" y="5257800"/>
            <a:ext cx="201168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240">
            <a:solidFill>
              <a:srgbClr val="FFD96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407408" y="53858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250 cm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407408" y="57424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threshold</a:t>
            </a:r>
            <a:endParaRPr lang="en-US" sz="9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876288" y="5257800"/>
            <a:ext cx="219456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240">
            <a:solidFill>
              <a:srgbClr val="74D99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967728" y="538581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0.04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967728" y="57424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 return smoothing</a:t>
            </a:r>
            <a:endParaRPr lang="en-US" sz="9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685D5-AB8E-82EF-0BBB-9F038B0BA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807516E1-E3F6-A899-C922-3397E3A3C72E}"/>
              </a:ext>
            </a:extLst>
          </p:cNvPr>
          <p:cNvSpPr/>
          <p:nvPr/>
        </p:nvSpPr>
        <p:spPr>
          <a:xfrm>
            <a:off x="11356848" y="641908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0">
            <a:extLst>
              <a:ext uri="{FF2B5EF4-FFF2-40B4-BE49-F238E27FC236}">
                <a16:creationId xmlns:a16="http://schemas.microsoft.com/office/drawing/2014/main" id="{138ABD87-3E1F-941C-2C72-9101223C8434}"/>
              </a:ext>
            </a:extLst>
          </p:cNvPr>
          <p:cNvSpPr/>
          <p:nvPr/>
        </p:nvSpPr>
        <p:spPr>
          <a:xfrm>
            <a:off x="3810000" y="1143000"/>
            <a:ext cx="4572000" cy="4572000"/>
          </a:xfrm>
          <a:prstGeom prst="ellipse">
            <a:avLst/>
          </a:prstGeom>
          <a:solidFill>
            <a:srgbClr val="00B4D8">
              <a:alpha val="8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084D525A-ED64-D39E-A15E-2E1B1A2C70F7}"/>
              </a:ext>
            </a:extLst>
          </p:cNvPr>
          <p:cNvSpPr/>
          <p:nvPr/>
        </p:nvSpPr>
        <p:spPr>
          <a:xfrm>
            <a:off x="1981200" y="3611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B4D8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LIVE DEMO</a:t>
            </a:r>
            <a:endParaRPr lang="en-US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0BC6B68B-CDDE-5D02-420E-91DAF210C2D3}"/>
              </a:ext>
            </a:extLst>
          </p:cNvPr>
          <p:cNvSpPr/>
          <p:nvPr/>
        </p:nvSpPr>
        <p:spPr>
          <a:xfrm>
            <a:off x="1981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Walk in front of the robot. Watch it follow you.</a:t>
            </a:r>
            <a:endParaRPr lang="en-US" sz="17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E3444CD-D787-46B8-72AA-57AB0EC4F147}"/>
              </a:ext>
            </a:extLst>
          </p:cNvPr>
          <p:cNvSpPr/>
          <p:nvPr/>
        </p:nvSpPr>
        <p:spPr>
          <a:xfrm>
            <a:off x="5723313" y="2423160"/>
            <a:ext cx="745374" cy="73152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049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3044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Hardware values and servo limits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values used by the program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370703" y="641908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13232" y="1234440"/>
            <a:ext cx="2926080" cy="3127248"/>
          </a:xfrm>
          <a:prstGeom prst="roundRect">
            <a:avLst>
              <a:gd name="adj" fmla="val 5625"/>
            </a:avLst>
          </a:prstGeom>
          <a:solidFill>
            <a:srgbClr val="F1FFF8"/>
          </a:solidFill>
          <a:ln w="12700">
            <a:solidFill>
              <a:srgbClr val="D7E0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77824" y="1399032"/>
            <a:ext cx="310896" cy="310896"/>
          </a:xfrm>
          <a:prstGeom prst="ellipse">
            <a:avLst/>
          </a:prstGeom>
          <a:solidFill>
            <a:srgbClr val="74D99F">
              <a:alpha val="88000"/>
            </a:srgbClr>
          </a:solidFill>
          <a:ln w="12700">
            <a:solidFill>
              <a:srgbClr val="74D9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35024" y="1399032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Ultrasonic wiring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98848" y="1234440"/>
            <a:ext cx="2423160" cy="3127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 sensor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TRIG → Pin 9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ECHO → Pin 8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 sensor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TRIG → Pin 11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ECHO → Pin 10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959352" y="1234440"/>
            <a:ext cx="3291840" cy="3127248"/>
          </a:xfrm>
          <a:prstGeom prst="roundRect">
            <a:avLst>
              <a:gd name="adj" fmla="val 5000"/>
            </a:avLst>
          </a:prstGeom>
          <a:solidFill>
            <a:srgbClr val="F3F7FF"/>
          </a:solidFill>
          <a:ln w="12700">
            <a:solidFill>
              <a:srgbClr val="D7E0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23944" y="1399032"/>
            <a:ext cx="310896" cy="310896"/>
          </a:xfrm>
          <a:prstGeom prst="ellipse">
            <a:avLst/>
          </a:prstGeom>
          <a:solidFill>
            <a:srgbClr val="6EA8FE">
              <a:alpha val="88000"/>
            </a:srgbClr>
          </a:solidFill>
          <a:ln w="12700">
            <a:solidFill>
              <a:srgbClr val="6EA8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81144" y="139903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Neutral positions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99516" y="1033272"/>
            <a:ext cx="2788920" cy="3127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 pan: 5.0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 nod: 6.2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Eye pan: 5.0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Eye tilt: 5.0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571232" y="1234440"/>
            <a:ext cx="3547872" cy="3127248"/>
          </a:xfrm>
          <a:prstGeom prst="roundRect">
            <a:avLst>
              <a:gd name="adj" fmla="val 4639"/>
            </a:avLst>
          </a:prstGeom>
          <a:solidFill>
            <a:srgbClr val="FFF7E8"/>
          </a:solidFill>
          <a:ln w="12700">
            <a:solidFill>
              <a:srgbClr val="D7E0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735824" y="1399032"/>
            <a:ext cx="310896" cy="310896"/>
          </a:xfrm>
          <a:prstGeom prst="ellipse">
            <a:avLst/>
          </a:prstGeom>
          <a:solidFill>
            <a:srgbClr val="FFB78A">
              <a:alpha val="88000"/>
            </a:srgbClr>
          </a:solidFill>
          <a:ln w="12700">
            <a:solidFill>
              <a:srgbClr val="FFB7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193024" y="1399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 movement ranges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891272" y="1033272"/>
            <a:ext cx="3044952" cy="3127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 pan: 1.0 to 9.0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 nod: 5.2 to 7.5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Eye pan: 1.0 to 9.0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Eye tilt: 3.5 to 7.0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828800" y="5532120"/>
            <a:ext cx="1783080" cy="960120"/>
          </a:xfrm>
          <a:prstGeom prst="roundRect">
            <a:avLst>
              <a:gd name="adj" fmla="val 17143"/>
            </a:avLst>
          </a:prstGeom>
          <a:solidFill>
            <a:srgbClr val="74D99F">
              <a:alpha val="18000"/>
            </a:srgbClr>
          </a:solidFill>
          <a:ln w="13970">
            <a:solidFill>
              <a:srgbClr val="74D99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920240" y="565099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COM13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920240" y="608990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 port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279392" y="5532120"/>
            <a:ext cx="1874520" cy="960120"/>
          </a:xfrm>
          <a:prstGeom prst="roundRect">
            <a:avLst>
              <a:gd name="adj" fmla="val 17143"/>
            </a:avLst>
          </a:prstGeom>
          <a:solidFill>
            <a:srgbClr val="6EA8FE">
              <a:alpha val="18000"/>
            </a:srgbClr>
          </a:solidFill>
          <a:ln w="13970">
            <a:solidFill>
              <a:srgbClr val="6EA8F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370832" y="565099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115200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370832" y="608990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Baud rate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812280" y="5532120"/>
            <a:ext cx="1965960" cy="960120"/>
          </a:xfrm>
          <a:prstGeom prst="roundRect">
            <a:avLst>
              <a:gd name="adj" fmla="val 17143"/>
            </a:avLst>
          </a:prstGeom>
          <a:solidFill>
            <a:srgbClr val="FFD966">
              <a:alpha val="18000"/>
            </a:srgbClr>
          </a:solidFill>
          <a:ln w="13970">
            <a:solidFill>
              <a:srgbClr val="FFD96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903720" y="56509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250 cm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903720" y="608990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threshold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3044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Environmental scan and radar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robot maps faces and objects during scanning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356848" y="641908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078992"/>
            <a:ext cx="4343400" cy="4251960"/>
          </a:xfrm>
          <a:prstGeom prst="roundRect">
            <a:avLst>
              <a:gd name="adj" fmla="val 5376"/>
            </a:avLst>
          </a:prstGeom>
          <a:solidFill>
            <a:srgbClr val="F3F7FF"/>
          </a:solidFill>
          <a:ln w="12700">
            <a:solidFill>
              <a:srgbClr val="D7E0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60120" y="1234440"/>
            <a:ext cx="3749040" cy="3749040"/>
          </a:xfrm>
          <a:prstGeom prst="arc">
            <a:avLst/>
          </a:prstGeom>
          <a:solidFill>
            <a:srgbClr val="F3F7FF">
              <a:alpha val="0"/>
            </a:srgbClr>
          </a:solidFill>
          <a:ln w="15240">
            <a:solidFill>
              <a:srgbClr val="6EA8F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325880" y="1600200"/>
            <a:ext cx="3017520" cy="3017520"/>
          </a:xfrm>
          <a:prstGeom prst="arc">
            <a:avLst/>
          </a:prstGeom>
          <a:solidFill>
            <a:srgbClr val="F3F7FF">
              <a:alpha val="0"/>
            </a:srgbClr>
          </a:solidFill>
          <a:ln w="13970">
            <a:solidFill>
              <a:srgbClr val="6EA8FE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691640" y="1965960"/>
            <a:ext cx="2286000" cy="2286000"/>
          </a:xfrm>
          <a:prstGeom prst="arc">
            <a:avLst/>
          </a:prstGeom>
          <a:solidFill>
            <a:srgbClr val="F3F7FF">
              <a:alpha val="0"/>
            </a:srgbClr>
          </a:solidFill>
          <a:ln w="12700">
            <a:solidFill>
              <a:srgbClr val="6EA8F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834640" y="4919472"/>
            <a:ext cx="0" cy="0"/>
          </a:xfrm>
          <a:prstGeom prst="line">
            <a:avLst/>
          </a:prstGeom>
          <a:noFill/>
          <a:ln w="17780">
            <a:solidFill>
              <a:srgbClr val="6EA8F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834640" y="4919472"/>
            <a:ext cx="0" cy="0"/>
          </a:xfrm>
          <a:prstGeom prst="line">
            <a:avLst/>
          </a:prstGeom>
          <a:noFill/>
          <a:ln w="17780">
            <a:solidFill>
              <a:srgbClr val="6EA8F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834640" y="4919472"/>
            <a:ext cx="1298448" cy="0"/>
          </a:xfrm>
          <a:prstGeom prst="line">
            <a:avLst/>
          </a:prstGeom>
          <a:noFill/>
          <a:ln w="26670">
            <a:solidFill>
              <a:srgbClr val="74D99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993392" y="2176272"/>
            <a:ext cx="256032" cy="256032"/>
          </a:xfrm>
          <a:prstGeom prst="ellipse">
            <a:avLst/>
          </a:prstGeom>
          <a:solidFill>
            <a:srgbClr val="74D99F"/>
          </a:solidFill>
          <a:ln w="12700">
            <a:solidFill>
              <a:srgbClr val="74D99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730752" y="2578608"/>
            <a:ext cx="219456" cy="219456"/>
          </a:xfrm>
          <a:prstGeom prst="ellipse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627901" y="57881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Radar view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285232" y="1234440"/>
            <a:ext cx="2880360" cy="1664208"/>
          </a:xfrm>
          <a:prstGeom prst="roundRect">
            <a:avLst>
              <a:gd name="adj" fmla="val 9890"/>
            </a:avLst>
          </a:prstGeom>
          <a:solidFill>
            <a:srgbClr val="F3F7FF"/>
          </a:solidFill>
          <a:ln w="12700">
            <a:solidFill>
              <a:srgbClr val="D7E0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49824" y="1399032"/>
            <a:ext cx="310896" cy="310896"/>
          </a:xfrm>
          <a:prstGeom prst="ellipse">
            <a:avLst/>
          </a:prstGeom>
          <a:solidFill>
            <a:srgbClr val="6EA8FE">
              <a:alpha val="88000"/>
            </a:srgbClr>
          </a:solidFill>
          <a:ln w="12700">
            <a:solidFill>
              <a:srgbClr val="6EA8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907024" y="1399032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 values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541264" y="1801368"/>
            <a:ext cx="2377440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 range: 2.0 to 8.0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 positions: 11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Settling delay: 0.55 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430768" y="1234440"/>
            <a:ext cx="2944368" cy="1664208"/>
          </a:xfrm>
          <a:prstGeom prst="roundRect">
            <a:avLst>
              <a:gd name="adj" fmla="val 9890"/>
            </a:avLst>
          </a:prstGeom>
          <a:solidFill>
            <a:srgbClr val="F1FFF8"/>
          </a:solidFill>
          <a:ln w="12700">
            <a:solidFill>
              <a:srgbClr val="D7E0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595360" y="1399032"/>
            <a:ext cx="310896" cy="310896"/>
          </a:xfrm>
          <a:prstGeom prst="ellipse">
            <a:avLst/>
          </a:prstGeom>
          <a:solidFill>
            <a:srgbClr val="74D99F">
              <a:alpha val="88000"/>
            </a:srgbClr>
          </a:solidFill>
          <a:ln w="12700">
            <a:solidFill>
              <a:srgbClr val="74D9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052560" y="139903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Radar values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686800" y="1801368"/>
            <a:ext cx="2441448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 size: 600 × 600 px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Range rings: 50, 100, 150, 200 cm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Green marker: face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Yellow marker: object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285232" y="3886200"/>
            <a:ext cx="6089904" cy="1225296"/>
          </a:xfrm>
          <a:prstGeom prst="roundRect">
            <a:avLst>
              <a:gd name="adj" fmla="val 13433"/>
            </a:avLst>
          </a:prstGeom>
          <a:solidFill>
            <a:srgbClr val="FFF7E8"/>
          </a:solidFill>
          <a:ln w="12700">
            <a:solidFill>
              <a:srgbClr val="D7E0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49824" y="4050792"/>
            <a:ext cx="310896" cy="310896"/>
          </a:xfrm>
          <a:prstGeom prst="ellipse">
            <a:avLst/>
          </a:prstGeom>
          <a:solidFill>
            <a:srgbClr val="FFD966">
              <a:alpha val="88000"/>
            </a:srgbClr>
          </a:solidFill>
          <a:ln w="12700">
            <a:solidFill>
              <a:srgbClr val="FFD9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907024" y="4050792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Duplicate handling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541264" y="4453128"/>
            <a:ext cx="558698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Nearby face detections are clustered if pan difference ≤ 2.0. This prevents one person from appearing as many people.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F2A5E7B-5D72-08D1-7929-696B27721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78992"/>
            <a:ext cx="4581144" cy="4581144"/>
          </a:xfrm>
          <a:prstGeom prst="rect">
            <a:avLst/>
          </a:prstGeom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35E881BE-E018-9253-D1C1-EEB214005384}"/>
              </a:ext>
            </a:extLst>
          </p:cNvPr>
          <p:cNvSpPr/>
          <p:nvPr/>
        </p:nvSpPr>
        <p:spPr>
          <a:xfrm>
            <a:off x="268941" y="1078992"/>
            <a:ext cx="4905487" cy="47000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3044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Main improvements and conclusion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the final code achieves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356848" y="641908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09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13232" y="1188720"/>
            <a:ext cx="2606040" cy="1097280"/>
          </a:xfrm>
          <a:prstGeom prst="roundRect">
            <a:avLst>
              <a:gd name="adj" fmla="val 15000"/>
            </a:avLst>
          </a:prstGeom>
          <a:solidFill>
            <a:srgbClr val="F1FFF8"/>
          </a:solidFill>
          <a:ln w="12700">
            <a:solidFill>
              <a:srgbClr val="D7E0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77824" y="1353312"/>
            <a:ext cx="310896" cy="310896"/>
          </a:xfrm>
          <a:prstGeom prst="ellipse">
            <a:avLst/>
          </a:prstGeom>
          <a:solidFill>
            <a:srgbClr val="74D99F">
              <a:alpha val="88000"/>
            </a:srgbClr>
          </a:solidFill>
          <a:ln w="12700">
            <a:solidFill>
              <a:srgbClr val="74D9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35024" y="1353312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Serial communication fix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69264" y="1755648"/>
            <a:ext cx="2103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DTR/RTS enabled for ATmega32U4 native USB streaming.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584448" y="1188720"/>
            <a:ext cx="2606040" cy="1097280"/>
          </a:xfrm>
          <a:prstGeom prst="roundRect">
            <a:avLst>
              <a:gd name="adj" fmla="val 15000"/>
            </a:avLst>
          </a:prstGeom>
          <a:solidFill>
            <a:srgbClr val="F3F7FF"/>
          </a:solidFill>
          <a:ln w="12700">
            <a:solidFill>
              <a:srgbClr val="D7E0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749040" y="1353312"/>
            <a:ext cx="310896" cy="310896"/>
          </a:xfrm>
          <a:prstGeom prst="ellipse">
            <a:avLst/>
          </a:prstGeom>
          <a:solidFill>
            <a:srgbClr val="6EA8FE">
              <a:alpha val="88000"/>
            </a:srgbClr>
          </a:solidFill>
          <a:ln w="12700">
            <a:solidFill>
              <a:srgbClr val="6EA8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206240" y="1353312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Scan stability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840480" y="1755648"/>
            <a:ext cx="2103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Servo settling delay and frame-buffer flushing reduce scan jitter.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55664" y="1188720"/>
            <a:ext cx="2606040" cy="1097280"/>
          </a:xfrm>
          <a:prstGeom prst="roundRect">
            <a:avLst>
              <a:gd name="adj" fmla="val 15000"/>
            </a:avLst>
          </a:prstGeom>
          <a:solidFill>
            <a:srgbClr val="FFF7E8"/>
          </a:solidFill>
          <a:ln w="12700">
            <a:solidFill>
              <a:srgbClr val="D7E0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620256" y="1353312"/>
            <a:ext cx="310896" cy="310896"/>
          </a:xfrm>
          <a:prstGeom prst="ellipse">
            <a:avLst/>
          </a:prstGeom>
          <a:solidFill>
            <a:srgbClr val="FFB78A">
              <a:alpha val="88000"/>
            </a:srgbClr>
          </a:solidFill>
          <a:ln w="12700">
            <a:solidFill>
              <a:srgbClr val="FFB7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077456" y="1353312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Mechanical compensation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711696" y="1755648"/>
            <a:ext cx="2103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 nod hold prevents head sag from camera and sensor weight.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326880" y="1188720"/>
            <a:ext cx="2148840" cy="1097280"/>
          </a:xfrm>
          <a:prstGeom prst="roundRect">
            <a:avLst>
              <a:gd name="adj" fmla="val 15000"/>
            </a:avLst>
          </a:prstGeom>
          <a:solidFill>
            <a:srgbClr val="FFF0F4"/>
          </a:solidFill>
          <a:ln w="12700">
            <a:solidFill>
              <a:srgbClr val="D7E0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491472" y="1353312"/>
            <a:ext cx="310896" cy="310896"/>
          </a:xfrm>
          <a:prstGeom prst="ellipse">
            <a:avLst/>
          </a:prstGeom>
          <a:solidFill>
            <a:srgbClr val="FF8FB3">
              <a:alpha val="88000"/>
            </a:srgbClr>
          </a:solidFill>
          <a:ln w="12700">
            <a:solidFill>
              <a:srgbClr val="FF8FB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948672" y="1353312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Cleaner radar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582912" y="1755648"/>
            <a:ext cx="1645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 clustering merges duplicate adjacent face sightings.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170432" y="3246120"/>
            <a:ext cx="9829800" cy="1554480"/>
          </a:xfrm>
          <a:prstGeom prst="roundRect">
            <a:avLst>
              <a:gd name="adj" fmla="val 14706"/>
            </a:avLst>
          </a:prstGeom>
          <a:solidFill>
            <a:srgbClr val="EEF4FF"/>
          </a:solidFill>
          <a:ln w="12700">
            <a:solidFill>
              <a:srgbClr val="D7E0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536192" y="3493008"/>
            <a:ext cx="9098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result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517904" y="39136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EA8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+ servo control + ultrasonic sensing + radar visualization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737360" y="4370832"/>
            <a:ext cx="8732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0" dirty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OhBot can detect faces, track a target, sense nearby objects, recover after losing visual contact, and scan its surroundings.</a:t>
            </a:r>
            <a:endParaRPr lang="en-US" sz="12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68680" y="5806440"/>
            <a:ext cx="10469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33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901</TotalTime>
  <Words>672</Words>
  <Application>Microsoft Macintosh PowerPoint</Application>
  <PresentationFormat>Widescreen</PresentationFormat>
  <Paragraphs>173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for 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Human-Robot Interaction</dc:title>
  <dc:subject>OhBot Tracker Presentation</dc:subject>
  <dc:creator>OpenAI</dc:creator>
  <cp:lastModifiedBy>Khan, Mahbub Ul Islam</cp:lastModifiedBy>
  <cp:revision>12</cp:revision>
  <cp:lastPrinted>2026-09-28T08:47:03Z</cp:lastPrinted>
  <dcterms:created xsi:type="dcterms:W3CDTF">2026-09-27T21:07:55Z</dcterms:created>
  <dcterms:modified xsi:type="dcterms:W3CDTF">2026-09-28T12:16:38Z</dcterms:modified>
</cp:coreProperties>
</file>