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61" r:id="rId5"/>
    <p:sldId id="262" r:id="rId6"/>
    <p:sldId id="266" r:id="rId7"/>
    <p:sldId id="267" r:id="rId8"/>
    <p:sldId id="268" r:id="rId9"/>
    <p:sldId id="258" r:id="rId10"/>
    <p:sldId id="269" r:id="rId11"/>
    <p:sldId id="260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09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03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two integrated systems: the existing face-tracking camera module and the future work — ultrasonic proximity sensing to guide OhBot before a face enters the camera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has three layers. The camera layer handles real-time face detection. The Pico layer handles peripheral sensing. The state controller decides which layer drives the robot at any given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a volunteer. Point out the three observable behaviours. The demo is the strongest part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33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Pico firmware is already written and tested. The remaining work is reading the serial stream on the laptop and integrating it into the OhBot state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14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Hardware layer captures raw distance data. Coordination layer decides whether to pivot (sensor mode) or track (CV mode). Output layer sends servo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50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DD71-0693-0532-91CA-3EE0F05C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D8B0F-780A-9330-729F-1CF06AF58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0CDA0-7150-CE40-72B9-1EC80AA47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a volunteer. Point out the three observable behaviours. The demo is the strongest part of the presentation.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E4B2A-BB82-BD6C-B074-63340C592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9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Haar Cascade is a pre-trained Viola-Jones classifier. scaleFactor steps through scale space; minNeighbors=5 suppresses false positives by requiring multiple overlapping detections at each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7C33-60E4-8F60-FF63-0C2A07A8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38474-F91E-BD0D-A605-107D79D1D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A8E9C-556D-47F9-AC15-2536B31A6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Haar Cascade is a pre-trained Viola-Jones classifier. scaleFactor steps through scale space; minNeighbors=5 suppresses false positives by requiring multiple overlapping detections at each position.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5EA48-1AFB-35CD-EC55-D3DFE0AFE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84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HEADTURN and EYETURN always receive the same pan value so head and eyes move in sync. The 0-10 scale maps to the physical servo range — 5 is always the neutral forward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Key messages: (1) the whole system is ~120 lines of Python, (2) future work with the Pico sensors is already prototyped, (3) this is a platform — the vision and awareness layer can power many different robot behaviours.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65601" y="101256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Robot to See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56816" y="184467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Face Tracking &amp; Proximity-Guided Pivot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036334" y="2301873"/>
            <a:ext cx="2286000" cy="36576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79" y="2432304"/>
            <a:ext cx="8594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built with Python, OpenCV &amp; </a:t>
            </a:r>
            <a:r>
              <a:rPr lang="en-US" sz="1200" i="1" dirty="0" err="1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OhBot</a:t>
            </a:r>
            <a:r>
              <a:rPr lang="en-US" sz="12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servos</a:t>
            </a:r>
            <a:endParaRPr lang="en-US" sz="12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9EF7136-58AE-6CDE-5FD9-639D12A65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1005840" cy="10058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E7B352-69B1-C8EA-BA48-D35974EE19B2}"/>
              </a:ext>
            </a:extLst>
          </p:cNvPr>
          <p:cNvSpPr txBox="1"/>
          <p:nvPr/>
        </p:nvSpPr>
        <p:spPr>
          <a:xfrm>
            <a:off x="1784111" y="3380154"/>
            <a:ext cx="5355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i="1" dirty="0" err="1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Sazzad</a:t>
            </a:r>
            <a:r>
              <a:rPr lang="en-US" sz="14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Abdullah</a:t>
            </a:r>
            <a:br>
              <a:rPr lang="en-US" sz="14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Mahbub Ul Islam Khan</a:t>
            </a:r>
            <a:endParaRPr lang="en-US" sz="1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430B55D-4DEA-7CCC-D025-E72AEE540BE2}"/>
              </a:ext>
            </a:extLst>
          </p:cNvPr>
          <p:cNvSpPr/>
          <p:nvPr/>
        </p:nvSpPr>
        <p:spPr>
          <a:xfrm>
            <a:off x="575796" y="2966259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4D8"/>
                </a:solidFill>
                <a:latin typeface="Calibri" pitchFamily="34" charset="0"/>
                <a:cs typeface="Calibri" pitchFamily="34" charset="-120"/>
              </a:rPr>
              <a:t>Group-1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3805" y="4800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System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975D975E-0474-E928-270C-1BB8759D8D44}"/>
              </a:ext>
            </a:extLst>
          </p:cNvPr>
          <p:cNvSpPr/>
          <p:nvPr/>
        </p:nvSpPr>
        <p:spPr>
          <a:xfrm>
            <a:off x="658300" y="1782048"/>
            <a:ext cx="1737360" cy="2468880"/>
          </a:xfrm>
          <a:prstGeom prst="roundRect">
            <a:avLst>
              <a:gd name="adj" fmla="val 5263"/>
            </a:avLst>
          </a:prstGeom>
          <a:solidFill>
            <a:schemeClr val="bg1">
              <a:lumMod val="9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1281B995-BA1E-394F-29FD-64E7679606C2}"/>
              </a:ext>
            </a:extLst>
          </p:cNvPr>
          <p:cNvSpPr/>
          <p:nvPr/>
        </p:nvSpPr>
        <p:spPr>
          <a:xfrm>
            <a:off x="1206940" y="1946640"/>
            <a:ext cx="640080" cy="6400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CC4E2053-4CAB-6786-5E43-3006D5FE6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956" y="2074656"/>
            <a:ext cx="384048" cy="384048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E6CEFE90-7A9B-A523-3F42-67FE3FF339D3}"/>
              </a:ext>
            </a:extLst>
          </p:cNvPr>
          <p:cNvSpPr/>
          <p:nvPr/>
        </p:nvSpPr>
        <p:spPr>
          <a:xfrm>
            <a:off x="749740" y="26964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13A85188-DEEC-2DB3-8786-42B051B7676D}"/>
              </a:ext>
            </a:extLst>
          </p:cNvPr>
          <p:cNvSpPr/>
          <p:nvPr/>
        </p:nvSpPr>
        <p:spPr>
          <a:xfrm>
            <a:off x="749740" y="3409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 px</a:t>
            </a:r>
            <a:endParaRPr lang="en-US" sz="11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30fps live feed</a:t>
            </a:r>
            <a:endParaRPr lang="en-US" sz="1100" dirty="0">
              <a:solidFill>
                <a:srgbClr val="002060"/>
              </a:solidFill>
            </a:endParaRP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21D3658A-83EF-F82F-A5C7-B9FD4D4A7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236" y="2815320"/>
            <a:ext cx="201168" cy="201168"/>
          </a:xfrm>
          <a:prstGeom prst="rect">
            <a:avLst/>
          </a:prstGeom>
        </p:spPr>
      </p:pic>
      <p:sp>
        <p:nvSpPr>
          <p:cNvPr id="27" name="Shape 6">
            <a:extLst>
              <a:ext uri="{FF2B5EF4-FFF2-40B4-BE49-F238E27FC236}">
                <a16:creationId xmlns:a16="http://schemas.microsoft.com/office/drawing/2014/main" id="{E8AC9D72-A410-7136-6E87-FA3AF8A4EFB9}"/>
              </a:ext>
            </a:extLst>
          </p:cNvPr>
          <p:cNvSpPr/>
          <p:nvPr/>
        </p:nvSpPr>
        <p:spPr>
          <a:xfrm>
            <a:off x="2669980" y="1782048"/>
            <a:ext cx="1737360" cy="2468880"/>
          </a:xfrm>
          <a:prstGeom prst="roundRect">
            <a:avLst>
              <a:gd name="adj" fmla="val 5263"/>
            </a:avLst>
          </a:prstGeom>
          <a:solidFill>
            <a:schemeClr val="bg1">
              <a:lumMod val="9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557D4891-4738-ADCB-A3C2-2C0E15C148D4}"/>
              </a:ext>
            </a:extLst>
          </p:cNvPr>
          <p:cNvSpPr/>
          <p:nvPr/>
        </p:nvSpPr>
        <p:spPr>
          <a:xfrm>
            <a:off x="3218620" y="1946640"/>
            <a:ext cx="640080" cy="64008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D9DDD259-B260-F30F-31E5-D01E4B9326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636" y="2074656"/>
            <a:ext cx="384048" cy="384048"/>
          </a:xfrm>
          <a:prstGeom prst="rect">
            <a:avLst/>
          </a:prstGeom>
        </p:spPr>
      </p:pic>
      <p:sp>
        <p:nvSpPr>
          <p:cNvPr id="30" name="Text 8">
            <a:extLst>
              <a:ext uri="{FF2B5EF4-FFF2-40B4-BE49-F238E27FC236}">
                <a16:creationId xmlns:a16="http://schemas.microsoft.com/office/drawing/2014/main" id="{AB90F723-5774-4521-51EC-DA312B77F73D}"/>
              </a:ext>
            </a:extLst>
          </p:cNvPr>
          <p:cNvSpPr/>
          <p:nvPr/>
        </p:nvSpPr>
        <p:spPr>
          <a:xfrm>
            <a:off x="2761420" y="26964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Detector</a:t>
            </a:r>
            <a:endParaRPr lang="en-US" sz="13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41DFAAB-51D3-26E2-5B20-320141089C34}"/>
              </a:ext>
            </a:extLst>
          </p:cNvPr>
          <p:cNvSpPr/>
          <p:nvPr/>
        </p:nvSpPr>
        <p:spPr>
          <a:xfrm>
            <a:off x="2761420" y="3409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scan</a:t>
            </a:r>
            <a:endParaRPr lang="en-US" sz="1100" dirty="0">
              <a:solidFill>
                <a:srgbClr val="002060"/>
              </a:solidFill>
            </a:endParaRPr>
          </a:p>
        </p:txBody>
      </p:sp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FC92864C-7157-B85E-4DCB-DF0269D97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16" y="2815320"/>
            <a:ext cx="201168" cy="201168"/>
          </a:xfrm>
          <a:prstGeom prst="rect">
            <a:avLst/>
          </a:prstGeom>
        </p:spPr>
      </p:pic>
      <p:sp>
        <p:nvSpPr>
          <p:cNvPr id="33" name="Shape 10">
            <a:extLst>
              <a:ext uri="{FF2B5EF4-FFF2-40B4-BE49-F238E27FC236}">
                <a16:creationId xmlns:a16="http://schemas.microsoft.com/office/drawing/2014/main" id="{85839CAC-CD35-324F-8C65-7DFEAC62C461}"/>
              </a:ext>
            </a:extLst>
          </p:cNvPr>
          <p:cNvSpPr/>
          <p:nvPr/>
        </p:nvSpPr>
        <p:spPr>
          <a:xfrm>
            <a:off x="4681660" y="1782048"/>
            <a:ext cx="1737360" cy="2468880"/>
          </a:xfrm>
          <a:prstGeom prst="roundRect">
            <a:avLst>
              <a:gd name="adj" fmla="val 5263"/>
            </a:avLst>
          </a:prstGeom>
          <a:solidFill>
            <a:schemeClr val="bg1">
              <a:lumMod val="9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58F1B5AC-A1DC-8298-66D1-22EE1673D3CA}"/>
              </a:ext>
            </a:extLst>
          </p:cNvPr>
          <p:cNvSpPr/>
          <p:nvPr/>
        </p:nvSpPr>
        <p:spPr>
          <a:xfrm>
            <a:off x="5230300" y="1946640"/>
            <a:ext cx="640080" cy="640080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8BBF64D9-2AC6-D129-DE92-A625A0223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16" y="2074656"/>
            <a:ext cx="384048" cy="384048"/>
          </a:xfrm>
          <a:prstGeom prst="rect">
            <a:avLst/>
          </a:prstGeom>
        </p:spPr>
      </p:pic>
      <p:sp>
        <p:nvSpPr>
          <p:cNvPr id="36" name="Text 12">
            <a:extLst>
              <a:ext uri="{FF2B5EF4-FFF2-40B4-BE49-F238E27FC236}">
                <a16:creationId xmlns:a16="http://schemas.microsoft.com/office/drawing/2014/main" id="{95C6AE70-1089-447A-6458-F3BED9949EB1}"/>
              </a:ext>
            </a:extLst>
          </p:cNvPr>
          <p:cNvSpPr/>
          <p:nvPr/>
        </p:nvSpPr>
        <p:spPr>
          <a:xfrm>
            <a:off x="4773100" y="26964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3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1FE7D4EC-B91A-0DC5-7083-5D1F81B7BC07}"/>
              </a:ext>
            </a:extLst>
          </p:cNvPr>
          <p:cNvSpPr/>
          <p:nvPr/>
        </p:nvSpPr>
        <p:spPr>
          <a:xfrm>
            <a:off x="4773100" y="3409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0→1</a:t>
            </a:r>
            <a:endParaRPr lang="en-US" sz="11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0→10</a:t>
            </a:r>
            <a:endParaRPr lang="en-US" sz="1100" dirty="0">
              <a:solidFill>
                <a:srgbClr val="002060"/>
              </a:solidFill>
            </a:endParaRPr>
          </a:p>
        </p:txBody>
      </p:sp>
      <p:pic>
        <p:nvPicPr>
          <p:cNvPr id="38" name="Image 5" descr="preencoded.png">
            <a:extLst>
              <a:ext uri="{FF2B5EF4-FFF2-40B4-BE49-F238E27FC236}">
                <a16:creationId xmlns:a16="http://schemas.microsoft.com/office/drawing/2014/main" id="{16866ED2-3EE2-65F7-1711-733673921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596" y="2815320"/>
            <a:ext cx="201168" cy="201168"/>
          </a:xfrm>
          <a:prstGeom prst="rect">
            <a:avLst/>
          </a:prstGeom>
        </p:spPr>
      </p:pic>
      <p:sp>
        <p:nvSpPr>
          <p:cNvPr id="39" name="Shape 14">
            <a:extLst>
              <a:ext uri="{FF2B5EF4-FFF2-40B4-BE49-F238E27FC236}">
                <a16:creationId xmlns:a16="http://schemas.microsoft.com/office/drawing/2014/main" id="{86E0BC62-8808-8488-87B2-E27677222DBB}"/>
              </a:ext>
            </a:extLst>
          </p:cNvPr>
          <p:cNvSpPr/>
          <p:nvPr/>
        </p:nvSpPr>
        <p:spPr>
          <a:xfrm>
            <a:off x="6693340" y="1782048"/>
            <a:ext cx="1737360" cy="2468880"/>
          </a:xfrm>
          <a:prstGeom prst="roundRect">
            <a:avLst>
              <a:gd name="adj" fmla="val 5263"/>
            </a:avLst>
          </a:prstGeom>
          <a:solidFill>
            <a:schemeClr val="bg1">
              <a:lumMod val="95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16FB7249-A976-007A-F619-BE59A41FD79C}"/>
              </a:ext>
            </a:extLst>
          </p:cNvPr>
          <p:cNvSpPr/>
          <p:nvPr/>
        </p:nvSpPr>
        <p:spPr>
          <a:xfrm>
            <a:off x="7241980" y="1946640"/>
            <a:ext cx="640080" cy="6400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6" descr="preencoded.png">
            <a:extLst>
              <a:ext uri="{FF2B5EF4-FFF2-40B4-BE49-F238E27FC236}">
                <a16:creationId xmlns:a16="http://schemas.microsoft.com/office/drawing/2014/main" id="{C15AB9F0-EF5C-3F5B-C85C-6B7214FFFB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9996" y="2074656"/>
            <a:ext cx="384048" cy="384048"/>
          </a:xfrm>
          <a:prstGeom prst="rect">
            <a:avLst/>
          </a:prstGeom>
        </p:spPr>
      </p:pic>
      <p:sp>
        <p:nvSpPr>
          <p:cNvPr id="42" name="Text 16">
            <a:extLst>
              <a:ext uri="{FF2B5EF4-FFF2-40B4-BE49-F238E27FC236}">
                <a16:creationId xmlns:a16="http://schemas.microsoft.com/office/drawing/2014/main" id="{0A98425C-2CC9-1E5C-4B09-6881EB468792}"/>
              </a:ext>
            </a:extLst>
          </p:cNvPr>
          <p:cNvSpPr/>
          <p:nvPr/>
        </p:nvSpPr>
        <p:spPr>
          <a:xfrm>
            <a:off x="6784780" y="26964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OhBot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Servos</a:t>
            </a:r>
            <a:endParaRPr lang="en-US" sz="13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EDE5E89B-64C2-0109-51A3-254983694E4D}"/>
              </a:ext>
            </a:extLst>
          </p:cNvPr>
          <p:cNvSpPr/>
          <p:nvPr/>
        </p:nvSpPr>
        <p:spPr>
          <a:xfrm>
            <a:off x="6784780" y="3409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HEADTURN 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20E8EA52-D43C-6A00-710A-2E085025B394}"/>
              </a:ext>
            </a:extLst>
          </p:cNvPr>
          <p:cNvSpPr/>
          <p:nvPr/>
        </p:nvSpPr>
        <p:spPr>
          <a:xfrm>
            <a:off x="2622884" y="1214450"/>
            <a:ext cx="3551035" cy="355186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C0509DA2-B0A7-B89D-78DE-4379EAE3B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448" y="1829326"/>
            <a:ext cx="1065311" cy="1065558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82022834-C572-939D-06F5-83C9CDA8AEE1}"/>
              </a:ext>
            </a:extLst>
          </p:cNvPr>
          <p:cNvSpPr/>
          <p:nvPr/>
        </p:nvSpPr>
        <p:spPr>
          <a:xfrm>
            <a:off x="1" y="4087025"/>
            <a:ext cx="9144000" cy="28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 python ohbot_camera_tracker_V1.py</a:t>
            </a:r>
            <a:endParaRPr lang="en-US" sz="1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EC377E9A-C4DD-68DA-3517-90DBB55FE44F}"/>
              </a:ext>
            </a:extLst>
          </p:cNvPr>
          <p:cNvSpPr/>
          <p:nvPr/>
        </p:nvSpPr>
        <p:spPr>
          <a:xfrm>
            <a:off x="235303" y="29903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LIVE DEMO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0258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proximity sensing with ultrasonic sensors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95966" y="1362456"/>
            <a:ext cx="4023360" cy="20848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95966" y="1362456"/>
            <a:ext cx="4023360" cy="402336"/>
          </a:xfrm>
          <a:prstGeom prst="rect">
            <a:avLst/>
          </a:prstGeom>
          <a:solidFill>
            <a:srgbClr val="EBF0F8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78846" y="1408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extension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10094" y="160020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HC-SR04 sensors flanking the robot detect approach at up to 5 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2 W broadcasts left/right proximity as JSON over USB at 20 Hz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OhBot pivots toward the closest sensor reading until the camera acquires a face lock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694176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4762" y="38267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4762" y="410108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2 W  ·  2× HC-SR04 sensors (voltage-divided to 3.3V for ECHO pins)  ·  MicroPython firmware  ·  JSON output: {"left": cm, "right": cm}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21657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sensing → coordination layer → servo output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8595360" cy="1060704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54793"/>
            <a:ext cx="83407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395728"/>
            <a:ext cx="8595360" cy="1481328"/>
          </a:xfrm>
          <a:prstGeom prst="roundRect">
            <a:avLst>
              <a:gd name="adj" fmla="val 4938"/>
            </a:avLst>
          </a:prstGeom>
          <a:solidFill>
            <a:srgbClr val="EBF0F8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2432304"/>
            <a:ext cx="8202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91363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950208"/>
            <a:ext cx="8202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6928" y="151790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left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179222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GP14 / GP15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14630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81528" y="151790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2 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81528" y="179222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 · 20 Hz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463040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96128" y="151790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right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96128" y="179222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GP16 / GP17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1837944"/>
            <a:ext cx="228600" cy="0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57800" y="1837944"/>
            <a:ext cx="228600" cy="0"/>
          </a:xfrm>
          <a:prstGeom prst="line">
            <a:avLst/>
          </a:prstGeom>
          <a:noFill/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" y="2695415"/>
            <a:ext cx="2286000" cy="5943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2695415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reader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2978879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71800" y="2695415"/>
            <a:ext cx="2286000" cy="5943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81528" y="2695415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decision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81528" y="2978879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min(left, right) → dir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695415"/>
            <a:ext cx="2286000" cy="5943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96128" y="2695415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OpenCV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96128" y="2978879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· face lock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3374136"/>
            <a:ext cx="5486400" cy="429768"/>
          </a:xfrm>
          <a:prstGeom prst="roundRect">
            <a:avLst>
              <a:gd name="adj" fmla="val 11111"/>
            </a:avLst>
          </a:prstGeom>
          <a:solidFill>
            <a:srgbClr val="EBF0F8"/>
          </a:solidFill>
          <a:ln w="9525">
            <a:solidFill>
              <a:srgbClr val="2C5282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920240" y="3410712"/>
            <a:ext cx="5303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controller  —  SENSOR_PIVOT  ↔  CV_TRACKING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236491"/>
            <a:ext cx="1828800" cy="481813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34621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HEADTURN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4236491"/>
            <a:ext cx="1828800" cy="481813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51760" y="434621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HEADNOD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236491"/>
            <a:ext cx="1828800" cy="481813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434621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EYETURN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4236491"/>
            <a:ext cx="1828800" cy="481813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58000" y="434621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EYETILT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0883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A11C-93E1-C57B-47A9-2DEB2B27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1347FA-1EF6-D626-D5B7-F936A9CCAAC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C1D53B-7F06-4C6D-A5EB-E815514740C9}"/>
              </a:ext>
            </a:extLst>
          </p:cNvPr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9275F1-1162-1451-3D78-EF28B9AEB756}"/>
              </a:ext>
            </a:extLst>
          </p:cNvPr>
          <p:cNvSpPr/>
          <p:nvPr/>
        </p:nvSpPr>
        <p:spPr>
          <a:xfrm>
            <a:off x="502920" y="914400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834FD068-D107-E682-F479-0F0BDB83384E}"/>
              </a:ext>
            </a:extLst>
          </p:cNvPr>
          <p:cNvSpPr/>
          <p:nvPr/>
        </p:nvSpPr>
        <p:spPr>
          <a:xfrm>
            <a:off x="2622884" y="1214450"/>
            <a:ext cx="3551035" cy="355186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DB478D68-0D56-9F20-7BDE-6B1EC448D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448" y="1829326"/>
            <a:ext cx="1065311" cy="1065558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191B5257-5CB0-7543-4207-4EA8DCDF53E2}"/>
              </a:ext>
            </a:extLst>
          </p:cNvPr>
          <p:cNvSpPr/>
          <p:nvPr/>
        </p:nvSpPr>
        <p:spPr>
          <a:xfrm>
            <a:off x="1" y="4087025"/>
            <a:ext cx="9144000" cy="28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6F5F3807-FBF7-8CAD-DE91-AD692B64816C}"/>
              </a:ext>
            </a:extLst>
          </p:cNvPr>
          <p:cNvSpPr/>
          <p:nvPr/>
        </p:nvSpPr>
        <p:spPr>
          <a:xfrm>
            <a:off x="235303" y="29903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LIVE DEMO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5304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Imports &amp; Robot Initialisation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20" name="Text 1a"/>
          <p:cNvSpPr/>
          <p:nvPr/>
        </p:nvSpPr>
        <p:spPr>
          <a:xfrm>
            <a:off x="724989" y="1614414"/>
            <a:ext cx="3801291" cy="54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</a:rPr>
              <a:t>import cv2 — OpenCV for webcam &amp; face detection from </a:t>
            </a:r>
            <a:r>
              <a:rPr lang="en-US" sz="1200" dirty="0" err="1">
                <a:latin typeface="Calibri" pitchFamily="34" charset="0"/>
              </a:rPr>
              <a:t>ohbot</a:t>
            </a:r>
            <a:r>
              <a:rPr lang="en-US" sz="1200" dirty="0">
                <a:latin typeface="Calibri" pitchFamily="34" charset="0"/>
              </a:rPr>
              <a:t> import </a:t>
            </a:r>
            <a:r>
              <a:rPr lang="en-US" sz="1200" dirty="0" err="1">
                <a:latin typeface="Calibri" pitchFamily="34" charset="0"/>
              </a:rPr>
              <a:t>ohbot</a:t>
            </a:r>
            <a:r>
              <a:rPr lang="en-US" sz="1200" dirty="0">
                <a:latin typeface="Calibri" pitchFamily="34" charset="0"/>
              </a:rPr>
              <a:t> — robot motor control</a:t>
            </a:r>
          </a:p>
          <a:p>
            <a:pPr marL="0" indent="0">
              <a:buNone/>
            </a:pPr>
            <a:endParaRPr lang="en-US" sz="1200" dirty="0">
              <a:latin typeface="Calibri" pitchFamily="34" charset="0"/>
            </a:endParaRPr>
          </a:p>
        </p:txBody>
      </p:sp>
      <p:sp>
        <p:nvSpPr>
          <p:cNvPr id="21" name="Text 1b"/>
          <p:cNvSpPr/>
          <p:nvPr/>
        </p:nvSpPr>
        <p:spPr>
          <a:xfrm>
            <a:off x="594360" y="1760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374151"/>
              </a:solidFill>
              <a:latin typeface="Calibri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22" name="Text 2a"/>
          <p:cNvSpPr/>
          <p:nvPr/>
        </p:nvSpPr>
        <p:spPr>
          <a:xfrm>
            <a:off x="724989" y="2591484"/>
            <a:ext cx="3533503" cy="489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i="1" dirty="0">
                <a:latin typeface="Calibri" pitchFamily="34" charset="0"/>
              </a:rPr>
              <a:t>ohbot.init() </a:t>
            </a:r>
            <a:r>
              <a:rPr lang="en-US" sz="1200" dirty="0">
                <a:latin typeface="Calibri" pitchFamily="34" charset="0"/>
              </a:rPr>
              <a:t>— starts USB connection to the robot 4 motors moved to position 5 (center of 0-10 scale)</a:t>
            </a:r>
          </a:p>
          <a:p>
            <a:pPr marL="0" indent="0">
              <a:buNone/>
            </a:pPr>
            <a:endParaRPr lang="en-US" sz="1200" dirty="0">
              <a:latin typeface="Calibri" pitchFamily="34" charset="0"/>
            </a:endParaRPr>
          </a:p>
        </p:txBody>
      </p:sp>
      <p:sp>
        <p:nvSpPr>
          <p:cNvPr id="23" name="Text 2b"/>
          <p:cNvSpPr/>
          <p:nvPr/>
        </p:nvSpPr>
        <p:spPr>
          <a:xfrm>
            <a:off x="594360" y="2760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374151"/>
              </a:solidFill>
              <a:latin typeface="Calibri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3264408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3392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24" name="Text 3a"/>
          <p:cNvSpPr/>
          <p:nvPr/>
        </p:nvSpPr>
        <p:spPr>
          <a:xfrm>
            <a:off x="724989" y="3675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latin typeface="Calibri" pitchFamily="34" charset="0"/>
              </a:rPr>
              <a:t>ohbot.wait(1) </a:t>
            </a:r>
            <a:r>
              <a:rPr lang="en-US" sz="1200" dirty="0">
                <a:latin typeface="Calibri" pitchFamily="34" charset="0"/>
              </a:rPr>
              <a:t>— pause to let servos physically reach centre</a:t>
            </a:r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3977640" cy="340940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832639"/>
            <a:ext cx="3611880" cy="2772017"/>
          </a:xfrm>
          <a:prstGeom prst="roundRect">
            <a:avLst>
              <a:gd name="adj" fmla="val 2264"/>
            </a:avLst>
          </a:prstGeom>
          <a:solidFill>
            <a:srgbClr val="F3F5F7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090813-3051-9F0F-B619-01793768C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703" y="1884332"/>
            <a:ext cx="3285308" cy="2641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Setup &amp; Face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webcam and detecting faces each frame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7884" y="1380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r>
              <a:rPr lang="de-DE" sz="1400" dirty="0"/>
              <a:t> </a:t>
            </a:r>
            <a:r>
              <a:rPr lang="de-DE" sz="1400" b="1" dirty="0" err="1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r>
              <a:rPr lang="de-DE" sz="1400" dirty="0"/>
              <a:t> </a:t>
            </a:r>
            <a:r>
              <a:rPr lang="de-DE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b="1" dirty="0">
              <a:solidFill>
                <a:srgbClr val="2C52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6928" y="1673352"/>
            <a:ext cx="3880917" cy="723028"/>
          </a:xfrm>
          <a:prstGeom prst="roundRect">
            <a:avLst>
              <a:gd name="adj" fmla="val 11364"/>
            </a:avLst>
          </a:prstGeom>
          <a:solidFill>
            <a:srgbClr val="F3F5F7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r>
              <a:rPr lang="en-US" sz="1100" b="1" i="1" dirty="0" err="1"/>
              <a:t>cascade_path</a:t>
            </a:r>
            <a:r>
              <a:rPr lang="en-US" sz="1100" b="1" i="1" dirty="0"/>
              <a:t> </a:t>
            </a:r>
            <a:r>
              <a:rPr lang="en-US" sz="1100" dirty="0"/>
              <a:t>and </a:t>
            </a:r>
            <a:r>
              <a:rPr lang="de-DE" sz="1100" b="1" i="1" dirty="0" err="1"/>
              <a:t>face_cascade</a:t>
            </a:r>
            <a:r>
              <a:rPr lang="de-DE" sz="1100" b="1" i="1" dirty="0"/>
              <a:t>  </a:t>
            </a:r>
            <a:r>
              <a:rPr lang="de-DE" sz="1100" i="1" dirty="0" err="1"/>
              <a:t>are</a:t>
            </a:r>
            <a:r>
              <a:rPr lang="de-DE" sz="1100" i="1" dirty="0"/>
              <a:t> </a:t>
            </a:r>
            <a:r>
              <a:rPr lang="de-DE" sz="1100" i="1" dirty="0" err="1"/>
              <a:t>the</a:t>
            </a:r>
            <a:r>
              <a:rPr lang="de-DE" sz="1100" i="1" dirty="0"/>
              <a:t> </a:t>
            </a:r>
            <a:r>
              <a:rPr lang="de-DE" sz="1100" b="1" i="1" dirty="0"/>
              <a:t> </a:t>
            </a:r>
            <a:r>
              <a:rPr lang="de-DE" sz="1100" dirty="0"/>
              <a:t>variables </a:t>
            </a:r>
            <a:r>
              <a:rPr lang="en-US" sz="1100" dirty="0"/>
              <a:t>for OpenCV's built-in face detection data file and to load the </a:t>
            </a:r>
            <a:r>
              <a:rPr lang="de-DE" sz="1100" dirty="0"/>
              <a:t>XML </a:t>
            </a:r>
            <a:r>
              <a:rPr lang="de-DE" sz="1100" dirty="0" err="1"/>
              <a:t>data</a:t>
            </a:r>
            <a:r>
              <a:rPr lang="de-DE" sz="1100" dirty="0"/>
              <a:t> </a:t>
            </a:r>
            <a:r>
              <a:rPr lang="de-DE" sz="1100" dirty="0" err="1"/>
              <a:t>into</a:t>
            </a:r>
            <a:r>
              <a:rPr lang="de-DE" sz="1100" dirty="0"/>
              <a:t> a </a:t>
            </a:r>
            <a:r>
              <a:rPr lang="de-DE" sz="1100" b="1" dirty="0" err="1"/>
              <a:t>CascadeClassifier</a:t>
            </a:r>
            <a:r>
              <a:rPr lang="de-DE" sz="1100" b="1" dirty="0"/>
              <a:t> </a:t>
            </a:r>
            <a:r>
              <a:rPr lang="de-DE" sz="1100" b="1" dirty="0" err="1"/>
              <a:t>object</a:t>
            </a:r>
            <a:r>
              <a:rPr lang="de-DE" sz="1100" b="1" dirty="0"/>
              <a:t> </a:t>
            </a:r>
            <a:r>
              <a:rPr lang="de-DE" sz="1100" dirty="0" err="1"/>
              <a:t>respectively</a:t>
            </a:r>
            <a:r>
              <a:rPr lang="de-DE" sz="1100" dirty="0"/>
              <a:t>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461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780" y="2440409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webcam at 640x480</a:t>
            </a:r>
          </a:p>
        </p:txBody>
      </p:sp>
      <p:sp>
        <p:nvSpPr>
          <p:cNvPr id="14" name="Shape 12"/>
          <p:cNvSpPr/>
          <p:nvPr/>
        </p:nvSpPr>
        <p:spPr>
          <a:xfrm>
            <a:off x="426928" y="2747120"/>
            <a:ext cx="3880917" cy="733480"/>
          </a:xfrm>
          <a:prstGeom prst="roundRect">
            <a:avLst>
              <a:gd name="adj" fmla="val 11364"/>
            </a:avLst>
          </a:prstGeom>
          <a:solidFill>
            <a:srgbClr val="F3F5F7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r>
              <a:rPr lang="en-US" sz="1200" b="1" i="1" dirty="0"/>
              <a:t>cap</a:t>
            </a:r>
            <a:r>
              <a:rPr lang="en-US" sz="1200" dirty="0"/>
              <a:t> variable opens the webcam and </a:t>
            </a:r>
            <a:r>
              <a:rPr lang="en-US" sz="1200" b="1" i="1" dirty="0" err="1"/>
              <a:t>cap.set</a:t>
            </a:r>
            <a:r>
              <a:rPr lang="en-US" sz="1200" b="1" i="1" dirty="0"/>
              <a:t>() </a:t>
            </a:r>
            <a:r>
              <a:rPr lang="en-US" sz="1200" b="1" dirty="0"/>
              <a:t>function</a:t>
            </a:r>
            <a:r>
              <a:rPr lang="en-US" sz="1200" dirty="0"/>
              <a:t> forces are camera resolution to be 640x 480 as per OpenCV model.</a:t>
            </a:r>
          </a:p>
        </p:txBody>
      </p:sp>
      <p:sp>
        <p:nvSpPr>
          <p:cNvPr id="17" name="Text 15"/>
          <p:cNvSpPr/>
          <p:nvPr/>
        </p:nvSpPr>
        <p:spPr>
          <a:xfrm>
            <a:off x="411481" y="3535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1" y="3517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5780" y="3520295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Variables</a:t>
            </a:r>
          </a:p>
        </p:txBody>
      </p:sp>
      <p:sp>
        <p:nvSpPr>
          <p:cNvPr id="24" name="Shape 22"/>
          <p:cNvSpPr/>
          <p:nvPr/>
        </p:nvSpPr>
        <p:spPr>
          <a:xfrm>
            <a:off x="426928" y="3828072"/>
            <a:ext cx="3880918" cy="869330"/>
          </a:xfrm>
          <a:prstGeom prst="roundRect">
            <a:avLst>
              <a:gd name="adj" fmla="val 11364"/>
            </a:avLst>
          </a:prstGeom>
          <a:solidFill>
            <a:srgbClr val="F3F5F7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r>
              <a:rPr lang="de-DE" sz="1200" b="1" i="1" dirty="0" err="1"/>
              <a:t>current_pan</a:t>
            </a:r>
            <a:r>
              <a:rPr lang="de-DE" sz="1200" b="1" i="1" dirty="0"/>
              <a:t> = 5.0  </a:t>
            </a:r>
            <a:r>
              <a:rPr lang="de-DE" sz="1200" dirty="0"/>
              <a:t>and </a:t>
            </a:r>
            <a:r>
              <a:rPr lang="de-DE" sz="1200" b="1" i="1" dirty="0" err="1"/>
              <a:t>current_tilt</a:t>
            </a:r>
            <a:r>
              <a:rPr lang="de-DE" sz="1200" b="1" i="1" dirty="0"/>
              <a:t> = 5.0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set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current</a:t>
            </a:r>
            <a:r>
              <a:rPr lang="de-DE" sz="1200" dirty="0"/>
              <a:t> </a:t>
            </a:r>
            <a:r>
              <a:rPr lang="de-DE" sz="1200" dirty="0" err="1"/>
              <a:t>servo</a:t>
            </a:r>
            <a:r>
              <a:rPr lang="de-DE" sz="1200" dirty="0"/>
              <a:t> </a:t>
            </a:r>
            <a:r>
              <a:rPr lang="de-DE" sz="1200" dirty="0" err="1"/>
              <a:t>posiotion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center</a:t>
            </a:r>
            <a:r>
              <a:rPr lang="de-DE" sz="1200" dirty="0"/>
              <a:t> and </a:t>
            </a:r>
            <a:r>
              <a:rPr lang="de-DE" sz="1200" b="1" i="1" dirty="0" err="1"/>
              <a:t>smoothing_factor</a:t>
            </a:r>
            <a:r>
              <a:rPr lang="de-DE" sz="1200" b="1" i="1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movement</a:t>
            </a:r>
            <a:r>
              <a:rPr lang="de-DE" sz="1200" dirty="0"/>
              <a:t> </a:t>
            </a:r>
            <a:r>
              <a:rPr lang="de-DE" sz="1200" dirty="0" err="1"/>
              <a:t>speed</a:t>
            </a:r>
            <a:r>
              <a:rPr lang="de-DE" sz="1200" dirty="0"/>
              <a:t>.</a:t>
            </a:r>
            <a:endParaRPr lang="en-US" sz="1200" b="1" i="1" dirty="0"/>
          </a:p>
        </p:txBody>
      </p:sp>
      <p:sp>
        <p:nvSpPr>
          <p:cNvPr id="26" name="Shape 24"/>
          <p:cNvSpPr/>
          <p:nvPr/>
        </p:nvSpPr>
        <p:spPr>
          <a:xfrm>
            <a:off x="4417572" y="1488513"/>
            <a:ext cx="4219303" cy="337936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99C4D570-A24F-140F-121D-E8F9E08F642C}"/>
              </a:ext>
            </a:extLst>
          </p:cNvPr>
          <p:cNvSpPr/>
          <p:nvPr/>
        </p:nvSpPr>
        <p:spPr>
          <a:xfrm>
            <a:off x="4535707" y="1508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FFF82A2-2727-2DA2-CF6E-6E226C45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30" y="1860804"/>
            <a:ext cx="3973202" cy="275691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855185E-B4C0-0170-1796-3D44B4D0795A}"/>
              </a:ext>
            </a:extLst>
          </p:cNvPr>
          <p:cNvSpPr txBox="1"/>
          <p:nvPr/>
        </p:nvSpPr>
        <p:spPr>
          <a:xfrm>
            <a:off x="426928" y="1316099"/>
            <a:ext cx="45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757B3D-3318-D455-95DC-6E9626EF3173}"/>
              </a:ext>
            </a:extLst>
          </p:cNvPr>
          <p:cNvSpPr txBox="1"/>
          <p:nvPr/>
        </p:nvSpPr>
        <p:spPr>
          <a:xfrm>
            <a:off x="426927" y="2389778"/>
            <a:ext cx="45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79CDA5-C04B-C32E-15E5-ADD7D32CC791}"/>
              </a:ext>
            </a:extLst>
          </p:cNvPr>
          <p:cNvSpPr txBox="1"/>
          <p:nvPr/>
        </p:nvSpPr>
        <p:spPr>
          <a:xfrm>
            <a:off x="426926" y="3480600"/>
            <a:ext cx="45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 &amp; Coordinate Mapping 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6"/>
            <a:ext cx="8366760" cy="4571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149539"/>
            <a:ext cx="4114800" cy="372313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5432F51-8D9E-C9F0-53A7-4FCFFA7FA0D7}"/>
              </a:ext>
            </a:extLst>
          </p:cNvPr>
          <p:cNvSpPr/>
          <p:nvPr/>
        </p:nvSpPr>
        <p:spPr>
          <a:xfrm>
            <a:off x="4937760" y="1254039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4A2466-C992-176B-67DB-15F7B5F5F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509" y="1654064"/>
            <a:ext cx="3654074" cy="2484907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56F8BD3B-0E53-CE2E-BBA4-7995E6B9D832}"/>
              </a:ext>
            </a:extLst>
          </p:cNvPr>
          <p:cNvSpPr/>
          <p:nvPr/>
        </p:nvSpPr>
        <p:spPr>
          <a:xfrm>
            <a:off x="4823720" y="1554481"/>
            <a:ext cx="3908800" cy="3252650"/>
          </a:xfrm>
          <a:prstGeom prst="roundRect">
            <a:avLst>
              <a:gd name="adj" fmla="val 2264"/>
            </a:avLst>
          </a:prstGeom>
          <a:solidFill>
            <a:srgbClr val="F3F5F7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E7EA98-F8F9-6597-DD56-A80409219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565" y="1619799"/>
            <a:ext cx="3764299" cy="3095892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411480" y="1189724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1969" y="1244588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22" name="Text 1a">
            <a:extLst>
              <a:ext uri="{FF2B5EF4-FFF2-40B4-BE49-F238E27FC236}">
                <a16:creationId xmlns:a16="http://schemas.microsoft.com/office/drawing/2014/main" id="{C6A3365F-B05C-0BCA-9C84-0BF1A5F05779}"/>
              </a:ext>
            </a:extLst>
          </p:cNvPr>
          <p:cNvSpPr/>
          <p:nvPr/>
        </p:nvSpPr>
        <p:spPr>
          <a:xfrm>
            <a:off x="664444" y="1342861"/>
            <a:ext cx="3839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Calibri" pitchFamily="34" charset="0"/>
              </a:rPr>
              <a:t>If the camera can grab a frame successfully , it then flips the </a:t>
            </a:r>
            <a:r>
              <a:rPr lang="en-US" sz="1100" b="1" i="1" dirty="0">
                <a:latin typeface="Calibri" pitchFamily="34" charset="0"/>
              </a:rPr>
              <a:t>frame </a:t>
            </a:r>
            <a:r>
              <a:rPr lang="en-US" sz="1100" dirty="0">
                <a:latin typeface="Calibri" pitchFamily="34" charset="0"/>
              </a:rPr>
              <a:t> and converts it to a grayscale for the model to detect the face and stores in </a:t>
            </a:r>
            <a:r>
              <a:rPr lang="en-US" sz="1100" b="1" i="1" dirty="0">
                <a:latin typeface="Calibri" pitchFamily="34" charset="0"/>
              </a:rPr>
              <a:t>faces.</a:t>
            </a:r>
          </a:p>
          <a:p>
            <a:pPr marL="0" indent="0">
              <a:buNone/>
            </a:pPr>
            <a:endParaRPr lang="en-US" sz="1100" dirty="0">
              <a:latin typeface="Calibri" pitchFamily="34" charset="0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D83ACDC-ACE3-FAFE-8BCB-090E08C6C396}"/>
              </a:ext>
            </a:extLst>
          </p:cNvPr>
          <p:cNvSpPr/>
          <p:nvPr/>
        </p:nvSpPr>
        <p:spPr>
          <a:xfrm>
            <a:off x="447143" y="22274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97029948-66AF-1159-3D6B-98BAD135D577}"/>
              </a:ext>
            </a:extLst>
          </p:cNvPr>
          <p:cNvSpPr/>
          <p:nvPr/>
        </p:nvSpPr>
        <p:spPr>
          <a:xfrm>
            <a:off x="502920" y="2273902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29" name="Text 1a">
            <a:extLst>
              <a:ext uri="{FF2B5EF4-FFF2-40B4-BE49-F238E27FC236}">
                <a16:creationId xmlns:a16="http://schemas.microsoft.com/office/drawing/2014/main" id="{F0985744-FFFE-EA1A-4465-42510317EB65}"/>
              </a:ext>
            </a:extLst>
          </p:cNvPr>
          <p:cNvSpPr/>
          <p:nvPr/>
        </p:nvSpPr>
        <p:spPr>
          <a:xfrm>
            <a:off x="705395" y="2372175"/>
            <a:ext cx="3839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i="1" dirty="0">
                <a:latin typeface="Calibri" pitchFamily="34" charset="0"/>
              </a:rPr>
              <a:t>Faces </a:t>
            </a:r>
            <a:r>
              <a:rPr lang="en-US" sz="1100" dirty="0">
                <a:latin typeface="Calibri" pitchFamily="34" charset="0"/>
              </a:rPr>
              <a:t>gives the X,Y coordinates of the detected face in the frame and also the width and height of the face. </a:t>
            </a:r>
            <a:r>
              <a:rPr lang="en-US" sz="1100" b="1" i="1" dirty="0"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endParaRPr lang="en-US" sz="1100" dirty="0">
              <a:latin typeface="Calibri" pitchFamily="34" charset="0"/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F11C9A29-59DA-94CF-13A3-DDED70142694}"/>
              </a:ext>
            </a:extLst>
          </p:cNvPr>
          <p:cNvSpPr/>
          <p:nvPr/>
        </p:nvSpPr>
        <p:spPr>
          <a:xfrm>
            <a:off x="455418" y="3182903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E6132EF9-0695-9BD0-FE34-777C984DEEF9}"/>
              </a:ext>
            </a:extLst>
          </p:cNvPr>
          <p:cNvSpPr/>
          <p:nvPr/>
        </p:nvSpPr>
        <p:spPr>
          <a:xfrm>
            <a:off x="511195" y="3229325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33" name="Text 1a">
            <a:extLst>
              <a:ext uri="{FF2B5EF4-FFF2-40B4-BE49-F238E27FC236}">
                <a16:creationId xmlns:a16="http://schemas.microsoft.com/office/drawing/2014/main" id="{0B7F6607-0AEA-91ED-E3B4-9C5A35E7C287}"/>
              </a:ext>
            </a:extLst>
          </p:cNvPr>
          <p:cNvSpPr/>
          <p:nvPr/>
        </p:nvSpPr>
        <p:spPr>
          <a:xfrm>
            <a:off x="713670" y="3327598"/>
            <a:ext cx="3839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i="1" dirty="0"/>
              <a:t>cv2</a:t>
            </a:r>
            <a:r>
              <a:rPr lang="de-DE" b="1" i="1" dirty="0"/>
              <a:t>.</a:t>
            </a:r>
            <a:r>
              <a:rPr lang="de-DE" sz="1100" b="1" i="1" dirty="0"/>
              <a:t>rectangle() </a:t>
            </a:r>
            <a:r>
              <a:rPr lang="de-DE" sz="1100" dirty="0" err="1"/>
              <a:t>creates</a:t>
            </a:r>
            <a:r>
              <a:rPr lang="de-DE" sz="1100" dirty="0"/>
              <a:t> a </a:t>
            </a:r>
            <a:r>
              <a:rPr lang="de-DE" sz="1100" dirty="0" err="1"/>
              <a:t>rectangle</a:t>
            </a:r>
            <a:r>
              <a:rPr lang="de-DE" sz="1100" dirty="0"/>
              <a:t>  box </a:t>
            </a:r>
            <a:r>
              <a:rPr lang="de-DE" sz="1100" dirty="0" err="1"/>
              <a:t>around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face</a:t>
            </a:r>
            <a:r>
              <a:rPr lang="de-DE" sz="1100" dirty="0"/>
              <a:t>. </a:t>
            </a:r>
            <a:endParaRPr lang="en-US" sz="1100" b="1" i="1" dirty="0">
              <a:latin typeface="Calibri" pitchFamily="34" charset="0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64E50D3A-6E1B-E521-729F-541A719AB68B}"/>
              </a:ext>
            </a:extLst>
          </p:cNvPr>
          <p:cNvSpPr/>
          <p:nvPr/>
        </p:nvSpPr>
        <p:spPr>
          <a:xfrm>
            <a:off x="447143" y="407153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4AFF3FCD-72F8-7508-2804-0E55B9944352}"/>
              </a:ext>
            </a:extLst>
          </p:cNvPr>
          <p:cNvSpPr/>
          <p:nvPr/>
        </p:nvSpPr>
        <p:spPr>
          <a:xfrm>
            <a:off x="502920" y="4117954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36" name="Text 1a">
            <a:extLst>
              <a:ext uri="{FF2B5EF4-FFF2-40B4-BE49-F238E27FC236}">
                <a16:creationId xmlns:a16="http://schemas.microsoft.com/office/drawing/2014/main" id="{C10E63B8-53E7-6F80-9D97-B7CB70EC9717}"/>
              </a:ext>
            </a:extLst>
          </p:cNvPr>
          <p:cNvSpPr/>
          <p:nvPr/>
        </p:nvSpPr>
        <p:spPr>
          <a:xfrm>
            <a:off x="705395" y="4216227"/>
            <a:ext cx="3839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i="1" dirty="0" err="1"/>
              <a:t>face_center_x</a:t>
            </a:r>
            <a:r>
              <a:rPr lang="de-DE" sz="1100" b="1" i="1" dirty="0"/>
              <a:t>  /_y </a:t>
            </a:r>
            <a:r>
              <a:rPr lang="de-DE" sz="1100" dirty="0"/>
              <a:t> </a:t>
            </a:r>
            <a:r>
              <a:rPr lang="de-DE" sz="1100" dirty="0" err="1"/>
              <a:t>finds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center</a:t>
            </a:r>
            <a:r>
              <a:rPr lang="de-DE" sz="1100" dirty="0"/>
              <a:t> </a:t>
            </a:r>
            <a:r>
              <a:rPr lang="en-US" sz="1100" dirty="0">
                <a:latin typeface="Calibri" pitchFamily="34" charset="0"/>
              </a:rPr>
              <a:t>coordinates of the face.</a:t>
            </a:r>
            <a:r>
              <a:rPr lang="de-DE" sz="1100" dirty="0"/>
              <a:t> </a:t>
            </a:r>
            <a:endParaRPr lang="en-US" sz="1100" b="1" i="1" dirty="0">
              <a:latin typeface="Calibri" pitchFamily="34" charset="0"/>
            </a:endParaRPr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A5F2642E-E04D-095A-FB34-EE88379E3076}"/>
              </a:ext>
            </a:extLst>
          </p:cNvPr>
          <p:cNvSpPr/>
          <p:nvPr/>
        </p:nvSpPr>
        <p:spPr>
          <a:xfrm>
            <a:off x="511195" y="7193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face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D43A-532A-6AAA-AD9D-2C6D174A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89EB26-1982-3948-CFAF-474E4DCB1FF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5BD6A0-3050-FE0B-F62A-9AD008C5743F}"/>
              </a:ext>
            </a:extLst>
          </p:cNvPr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the </a:t>
            </a:r>
            <a:r>
              <a:rPr lang="en-US" sz="2800" b="1" dirty="0" err="1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Ohbot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F96257-18A4-F839-7DB5-F47A22DAA7B9}"/>
              </a:ext>
            </a:extLst>
          </p:cNvPr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B80CC50-81BB-7A1E-15F0-2968AED88C01}"/>
              </a:ext>
            </a:extLst>
          </p:cNvPr>
          <p:cNvSpPr/>
          <p:nvPr/>
        </p:nvSpPr>
        <p:spPr>
          <a:xfrm>
            <a:off x="502920" y="1024126"/>
            <a:ext cx="8366760" cy="45719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B3EFA5A-6548-7C38-3710-2A30C98E34CD}"/>
              </a:ext>
            </a:extLst>
          </p:cNvPr>
          <p:cNvSpPr/>
          <p:nvPr/>
        </p:nvSpPr>
        <p:spPr>
          <a:xfrm>
            <a:off x="4754880" y="1149540"/>
            <a:ext cx="4114800" cy="3605339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2B8747E6-469A-84E5-B77D-5D7A395204A8}"/>
              </a:ext>
            </a:extLst>
          </p:cNvPr>
          <p:cNvSpPr/>
          <p:nvPr/>
        </p:nvSpPr>
        <p:spPr>
          <a:xfrm>
            <a:off x="4901256" y="116446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386107-C511-3AB6-6CF9-F74559199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509" y="1654064"/>
            <a:ext cx="3654074" cy="2484907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6F283275-D2FB-0C1D-C913-5DC353AADA0F}"/>
              </a:ext>
            </a:extLst>
          </p:cNvPr>
          <p:cNvSpPr/>
          <p:nvPr/>
        </p:nvSpPr>
        <p:spPr>
          <a:xfrm>
            <a:off x="4823720" y="1426346"/>
            <a:ext cx="3970828" cy="3230570"/>
          </a:xfrm>
          <a:prstGeom prst="roundRect">
            <a:avLst>
              <a:gd name="adj" fmla="val 2264"/>
            </a:avLst>
          </a:prstGeom>
          <a:solidFill>
            <a:srgbClr val="F3F5F7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DB7F57E-B05E-E066-9987-023FE66D6B20}"/>
              </a:ext>
            </a:extLst>
          </p:cNvPr>
          <p:cNvSpPr/>
          <p:nvPr/>
        </p:nvSpPr>
        <p:spPr>
          <a:xfrm>
            <a:off x="429831" y="1189724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2F2C58-AC4C-2B17-0170-C6BE01311174}"/>
              </a:ext>
            </a:extLst>
          </p:cNvPr>
          <p:cNvSpPr/>
          <p:nvPr/>
        </p:nvSpPr>
        <p:spPr>
          <a:xfrm>
            <a:off x="461969" y="1244588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22" name="Text 1a">
            <a:extLst>
              <a:ext uri="{FF2B5EF4-FFF2-40B4-BE49-F238E27FC236}">
                <a16:creationId xmlns:a16="http://schemas.microsoft.com/office/drawing/2014/main" id="{C6F736BD-67A3-A5F8-BB24-50F94073FDFB}"/>
              </a:ext>
            </a:extLst>
          </p:cNvPr>
          <p:cNvSpPr/>
          <p:nvPr/>
        </p:nvSpPr>
        <p:spPr>
          <a:xfrm>
            <a:off x="664444" y="1342861"/>
            <a:ext cx="38392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i="1" dirty="0" err="1">
                <a:latin typeface="Calibri" pitchFamily="34" charset="0"/>
              </a:rPr>
              <a:t>normalized_x</a:t>
            </a:r>
            <a:r>
              <a:rPr lang="en-US" sz="1100" b="1" i="1" dirty="0">
                <a:latin typeface="Calibri" pitchFamily="34" charset="0"/>
              </a:rPr>
              <a:t> /_y </a:t>
            </a:r>
            <a:r>
              <a:rPr lang="en-US" sz="1100" dirty="0">
                <a:latin typeface="Calibri" pitchFamily="34" charset="0"/>
              </a:rPr>
              <a:t> finds the relative positions of the face to the x and y coordinate of the frame.  </a:t>
            </a:r>
            <a:r>
              <a:rPr lang="en-US" sz="1100" b="1" i="1" dirty="0">
                <a:latin typeface="Calibri" pitchFamily="34" charset="0"/>
              </a:rPr>
              <a:t> </a:t>
            </a: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655D35BD-2B2C-405D-D1C7-BEBF746AD74E}"/>
              </a:ext>
            </a:extLst>
          </p:cNvPr>
          <p:cNvSpPr/>
          <p:nvPr/>
        </p:nvSpPr>
        <p:spPr>
          <a:xfrm>
            <a:off x="447143" y="22274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EA71F380-994D-AFA5-5C46-F10C9AA1B43C}"/>
              </a:ext>
            </a:extLst>
          </p:cNvPr>
          <p:cNvSpPr/>
          <p:nvPr/>
        </p:nvSpPr>
        <p:spPr>
          <a:xfrm>
            <a:off x="502920" y="2273902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29" name="Text 1a">
            <a:extLst>
              <a:ext uri="{FF2B5EF4-FFF2-40B4-BE49-F238E27FC236}">
                <a16:creationId xmlns:a16="http://schemas.microsoft.com/office/drawing/2014/main" id="{10F7CCFF-4DA6-3DC0-A34E-3D378C016ACD}"/>
              </a:ext>
            </a:extLst>
          </p:cNvPr>
          <p:cNvSpPr/>
          <p:nvPr/>
        </p:nvSpPr>
        <p:spPr>
          <a:xfrm>
            <a:off x="705395" y="2372175"/>
            <a:ext cx="379828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i="1" dirty="0" err="1">
                <a:latin typeface="Calibri" pitchFamily="34" charset="0"/>
              </a:rPr>
              <a:t>target_pan</a:t>
            </a:r>
            <a:r>
              <a:rPr lang="en-US" sz="1100" b="1" i="1" dirty="0">
                <a:latin typeface="Calibri" pitchFamily="34" charset="0"/>
              </a:rPr>
              <a:t> </a:t>
            </a:r>
            <a:r>
              <a:rPr lang="en-US" sz="1100" dirty="0">
                <a:latin typeface="Calibri" pitchFamily="34" charset="0"/>
              </a:rPr>
              <a:t>and</a:t>
            </a:r>
            <a:r>
              <a:rPr lang="en-US" sz="1100" b="1" i="1" dirty="0">
                <a:latin typeface="Calibri" pitchFamily="34" charset="0"/>
              </a:rPr>
              <a:t> </a:t>
            </a:r>
            <a:r>
              <a:rPr lang="en-US" sz="1100" b="1" i="1" dirty="0" err="1">
                <a:latin typeface="Calibri" pitchFamily="34" charset="0"/>
              </a:rPr>
              <a:t>target_tilt</a:t>
            </a:r>
            <a:r>
              <a:rPr lang="en-US" sz="1100" b="1" i="1" dirty="0">
                <a:latin typeface="Calibri" pitchFamily="34" charset="0"/>
              </a:rPr>
              <a:t> </a:t>
            </a:r>
            <a:r>
              <a:rPr lang="en-US" sz="1100" dirty="0">
                <a:latin typeface="Calibri" pitchFamily="34" charset="0"/>
              </a:rPr>
              <a:t>gives the position of the pan and tilt servo. as pan servo ranges from 0 to 10 from left and tilt servo is also same from bottom. </a:t>
            </a: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D96413B-BE8A-977A-00D6-0AE7A760BF2E}"/>
              </a:ext>
            </a:extLst>
          </p:cNvPr>
          <p:cNvSpPr/>
          <p:nvPr/>
        </p:nvSpPr>
        <p:spPr>
          <a:xfrm>
            <a:off x="455418" y="3182903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F5F53B22-7319-A976-095B-AC08518861C9}"/>
              </a:ext>
            </a:extLst>
          </p:cNvPr>
          <p:cNvSpPr/>
          <p:nvPr/>
        </p:nvSpPr>
        <p:spPr>
          <a:xfrm>
            <a:off x="511195" y="3229325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33" name="Text 1a">
            <a:extLst>
              <a:ext uri="{FF2B5EF4-FFF2-40B4-BE49-F238E27FC236}">
                <a16:creationId xmlns:a16="http://schemas.microsoft.com/office/drawing/2014/main" id="{4EFF0E87-570C-8BE8-94E7-B1F0169E2BC4}"/>
              </a:ext>
            </a:extLst>
          </p:cNvPr>
          <p:cNvSpPr/>
          <p:nvPr/>
        </p:nvSpPr>
        <p:spPr>
          <a:xfrm>
            <a:off x="713669" y="3277120"/>
            <a:ext cx="384827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1100" b="1" i="1" dirty="0" err="1"/>
              <a:t>current_pan</a:t>
            </a:r>
            <a:r>
              <a:rPr lang="de-DE" sz="1100" b="1" i="1" dirty="0"/>
              <a:t>   </a:t>
            </a:r>
            <a:r>
              <a:rPr lang="de-DE" sz="1100" dirty="0"/>
              <a:t>and</a:t>
            </a:r>
            <a:r>
              <a:rPr lang="de-DE" sz="1100" b="1" i="1" dirty="0"/>
              <a:t> </a:t>
            </a:r>
            <a:r>
              <a:rPr lang="de-DE" sz="1100" b="1" i="1" dirty="0" err="1"/>
              <a:t>current_tilt</a:t>
            </a:r>
            <a:r>
              <a:rPr lang="de-DE" sz="1100" b="1" i="1" dirty="0"/>
              <a:t> , </a:t>
            </a:r>
            <a:r>
              <a:rPr lang="de-DE" sz="1100" b="1" dirty="0"/>
              <a:t> </a:t>
            </a:r>
            <a:r>
              <a:rPr lang="de-DE" sz="1100" dirty="0" err="1"/>
              <a:t>prevents</a:t>
            </a:r>
            <a:r>
              <a:rPr lang="de-DE" sz="1100" dirty="0"/>
              <a:t> </a:t>
            </a:r>
            <a:r>
              <a:rPr lang="de-DE" sz="1100" dirty="0" err="1"/>
              <a:t>servo</a:t>
            </a:r>
            <a:r>
              <a:rPr lang="de-DE" sz="1100" dirty="0"/>
              <a:t> </a:t>
            </a:r>
            <a:r>
              <a:rPr lang="de-DE" sz="1100" dirty="0" err="1"/>
              <a:t>jitter</a:t>
            </a:r>
            <a:r>
              <a:rPr lang="de-DE" sz="1100" dirty="0"/>
              <a:t> an </a:t>
            </a:r>
            <a:r>
              <a:rPr lang="de-DE" sz="1100" dirty="0" err="1"/>
              <a:t>overshoot</a:t>
            </a:r>
            <a:r>
              <a:rPr lang="de-DE" sz="1100" dirty="0"/>
              <a:t>. </a:t>
            </a:r>
            <a:r>
              <a:rPr lang="de-DE" sz="1100" dirty="0" err="1"/>
              <a:t>Feels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Ohbot</a:t>
            </a:r>
            <a:r>
              <a:rPr lang="de-DE" sz="1100" dirty="0"/>
              <a:t> </a:t>
            </a:r>
            <a:r>
              <a:rPr lang="de-DE" sz="1100" dirty="0" err="1"/>
              <a:t>movement</a:t>
            </a:r>
            <a:r>
              <a:rPr lang="de-DE" sz="1100" dirty="0"/>
              <a:t> </a:t>
            </a:r>
            <a:r>
              <a:rPr lang="de-DE" sz="1100" dirty="0" err="1"/>
              <a:t>more</a:t>
            </a:r>
            <a:r>
              <a:rPr lang="de-DE" sz="1100" dirty="0"/>
              <a:t> </a:t>
            </a:r>
            <a:r>
              <a:rPr lang="de-DE" sz="1100" dirty="0" err="1"/>
              <a:t>humen</a:t>
            </a:r>
            <a:r>
              <a:rPr lang="de-DE" sz="1100" dirty="0"/>
              <a:t>. </a:t>
            </a:r>
            <a:endParaRPr lang="en-US" sz="1100" i="1" dirty="0">
              <a:latin typeface="Calibri" pitchFamily="34" charset="0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2FD6197D-424E-4451-8E8D-79F2BCA87C29}"/>
              </a:ext>
            </a:extLst>
          </p:cNvPr>
          <p:cNvSpPr/>
          <p:nvPr/>
        </p:nvSpPr>
        <p:spPr>
          <a:xfrm>
            <a:off x="447143" y="407153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DC4BCDE0-6E25-17CB-50C8-A684D0F01B30}"/>
              </a:ext>
            </a:extLst>
          </p:cNvPr>
          <p:cNvSpPr/>
          <p:nvPr/>
        </p:nvSpPr>
        <p:spPr>
          <a:xfrm>
            <a:off x="502920" y="4117954"/>
            <a:ext cx="19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36" name="Text 1a">
            <a:extLst>
              <a:ext uri="{FF2B5EF4-FFF2-40B4-BE49-F238E27FC236}">
                <a16:creationId xmlns:a16="http://schemas.microsoft.com/office/drawing/2014/main" id="{64FB64AF-F245-44A4-C351-8FF73E26F711}"/>
              </a:ext>
            </a:extLst>
          </p:cNvPr>
          <p:cNvSpPr/>
          <p:nvPr/>
        </p:nvSpPr>
        <p:spPr>
          <a:xfrm>
            <a:off x="711085" y="4085844"/>
            <a:ext cx="37925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de-DE" sz="1100" b="1" i="1" dirty="0"/>
          </a:p>
          <a:p>
            <a:r>
              <a:rPr lang="de-DE" sz="1100" dirty="0" err="1"/>
              <a:t>Before</a:t>
            </a:r>
            <a:r>
              <a:rPr lang="de-DE" sz="1100" dirty="0"/>
              <a:t> </a:t>
            </a:r>
            <a:r>
              <a:rPr lang="de-DE" sz="1100" dirty="0" err="1"/>
              <a:t>moving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servos</a:t>
            </a:r>
            <a:r>
              <a:rPr lang="de-DE" sz="1100" dirty="0"/>
              <a:t>, a maximum </a:t>
            </a:r>
            <a:r>
              <a:rPr lang="de-DE" sz="1100" dirty="0" err="1"/>
              <a:t>servo</a:t>
            </a:r>
            <a:r>
              <a:rPr lang="de-DE" sz="1100" dirty="0"/>
              <a:t> </a:t>
            </a:r>
            <a:r>
              <a:rPr lang="de-DE" sz="1100" dirty="0" err="1"/>
              <a:t>movement</a:t>
            </a:r>
            <a:r>
              <a:rPr lang="de-DE" sz="1100" dirty="0"/>
              <a:t> </a:t>
            </a:r>
            <a:r>
              <a:rPr lang="de-DE" sz="1100" dirty="0" err="1"/>
              <a:t>is</a:t>
            </a:r>
            <a:r>
              <a:rPr lang="de-DE" sz="1100" dirty="0"/>
              <a:t> </a:t>
            </a:r>
            <a:r>
              <a:rPr lang="de-DE" sz="1100" dirty="0" err="1"/>
              <a:t>set</a:t>
            </a:r>
            <a:r>
              <a:rPr lang="de-DE" sz="1100" dirty="0"/>
              <a:t> </a:t>
            </a:r>
            <a:r>
              <a:rPr lang="de-DE" sz="1100" dirty="0" err="1"/>
              <a:t>inorder</a:t>
            </a:r>
            <a:r>
              <a:rPr lang="de-DE" sz="1100" dirty="0"/>
              <a:t> </a:t>
            </a:r>
            <a:r>
              <a:rPr lang="de-DE" sz="1100" dirty="0" err="1"/>
              <a:t>prevent</a:t>
            </a:r>
            <a:r>
              <a:rPr lang="de-DE" sz="1100" dirty="0"/>
              <a:t> </a:t>
            </a:r>
            <a:r>
              <a:rPr lang="de-DE" sz="1100" dirty="0" err="1"/>
              <a:t>over</a:t>
            </a:r>
            <a:r>
              <a:rPr lang="de-DE" sz="1100" dirty="0"/>
              <a:t>-drive and </a:t>
            </a:r>
            <a:r>
              <a:rPr lang="de-DE" sz="1100" dirty="0" err="1"/>
              <a:t>hardware</a:t>
            </a:r>
            <a:r>
              <a:rPr lang="de-DE" sz="1100" dirty="0"/>
              <a:t> </a:t>
            </a:r>
            <a:r>
              <a:rPr lang="de-DE" sz="1100" dirty="0" err="1"/>
              <a:t>damage</a:t>
            </a:r>
            <a:r>
              <a:rPr lang="de-DE" sz="1100" dirty="0"/>
              <a:t>.. </a:t>
            </a:r>
            <a:r>
              <a:rPr lang="de-DE" sz="1100" dirty="0" err="1"/>
              <a:t>Finally</a:t>
            </a:r>
            <a:r>
              <a:rPr lang="de-DE" sz="1100" dirty="0"/>
              <a:t>, </a:t>
            </a:r>
            <a:r>
              <a:rPr lang="de-DE" sz="1100" b="1" i="1" dirty="0" err="1"/>
              <a:t>ohbot.move</a:t>
            </a:r>
            <a:r>
              <a:rPr lang="de-DE" sz="1100" b="1" i="1" dirty="0"/>
              <a:t> () </a:t>
            </a:r>
            <a:r>
              <a:rPr lang="de-DE" sz="1100" dirty="0"/>
              <a:t> </a:t>
            </a:r>
            <a:r>
              <a:rPr lang="de-DE" sz="1100" dirty="0" err="1"/>
              <a:t>is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function</a:t>
            </a:r>
            <a:r>
              <a:rPr lang="de-DE" sz="1100" dirty="0"/>
              <a:t> </a:t>
            </a:r>
            <a:r>
              <a:rPr lang="de-DE" sz="1100" dirty="0" err="1"/>
              <a:t>that</a:t>
            </a:r>
            <a:r>
              <a:rPr lang="de-DE" sz="1100" dirty="0"/>
              <a:t> </a:t>
            </a:r>
            <a:r>
              <a:rPr lang="de-DE" sz="1100" dirty="0" err="1"/>
              <a:t>moves</a:t>
            </a:r>
            <a:r>
              <a:rPr lang="de-DE" sz="1100" dirty="0"/>
              <a:t> </a:t>
            </a:r>
            <a:r>
              <a:rPr lang="de-DE" sz="1100" dirty="0" err="1"/>
              <a:t>the</a:t>
            </a:r>
            <a:r>
              <a:rPr lang="de-DE" sz="1100" dirty="0"/>
              <a:t> </a:t>
            </a:r>
            <a:r>
              <a:rPr lang="de-DE" sz="1100" dirty="0" err="1"/>
              <a:t>servos</a:t>
            </a:r>
            <a:r>
              <a:rPr lang="de-DE" sz="1100" dirty="0"/>
              <a:t>.</a:t>
            </a:r>
            <a:endParaRPr lang="en-US" sz="1100" b="1" i="1" dirty="0">
              <a:latin typeface="Calibri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0226FA6-61EB-23C7-428B-659EB35779C4}"/>
              </a:ext>
            </a:extLst>
          </p:cNvPr>
          <p:cNvSpPr/>
          <p:nvPr/>
        </p:nvSpPr>
        <p:spPr>
          <a:xfrm>
            <a:off x="511195" y="7193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pixel position to servo command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478094-382E-D52F-1D09-F817903484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85" r="1636" b="21006"/>
          <a:stretch>
            <a:fillRect/>
          </a:stretch>
        </p:blipFill>
        <p:spPr>
          <a:xfrm>
            <a:off x="4901256" y="1543738"/>
            <a:ext cx="3840301" cy="305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69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D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OhBot Servo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servos · 0–10 scale 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11480" y="1325880"/>
          <a:ext cx="8321040" cy="1920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constant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(centre)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(max)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ohbot.HEADTURN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yaw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ahead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ohbot.HEADNOD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pitch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ohbot.EYETURN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 horizontal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left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ohbot.EYETILT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 vertical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401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703319"/>
            <a:ext cx="8321040" cy="1286691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63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6FFD6D-9ADC-D8D4-FA51-2FBD629BE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04418"/>
            <a:ext cx="4043602" cy="11104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06D6A0">
              <a:alpha val="8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8F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1048</Words>
  <Application>Microsoft Macintosh PowerPoint</Application>
  <PresentationFormat>On-screen Show (16:9)</PresentationFormat>
  <Paragraphs>151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OhBot Awareness System</dc:title>
  <dc:subject>PptxGenJS Presentation</dc:subject>
  <dc:creator>PptxGenJS</dc:creator>
  <cp:lastModifiedBy>Khan, Mahbub Ul Islam</cp:lastModifiedBy>
  <cp:revision>7</cp:revision>
  <dcterms:created xsi:type="dcterms:W3CDTF">2026-06-09T21:24:38Z</dcterms:created>
  <dcterms:modified xsi:type="dcterms:W3CDTF">2026-06-10T11:04:00Z</dcterms:modified>
</cp:coreProperties>
</file>